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66" d="100"/>
          <a:sy n="66" d="100"/>
        </p:scale>
        <p:origin x="31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D1A31F-BA99-4A69-8A82-68D11C01956F}"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BD897D9A-468D-4198-8926-0441AF3CB869}">
      <dgm:prSet/>
      <dgm:spPr/>
      <dgm:t>
        <a:bodyPr/>
        <a:lstStyle/>
        <a:p>
          <a:pPr>
            <a:lnSpc>
              <a:spcPct val="100000"/>
            </a:lnSpc>
            <a:defRPr b="1"/>
          </a:pPr>
          <a:r>
            <a:rPr lang="en-US" b="1"/>
            <a:t>Monte Carlo Simulation </a:t>
          </a:r>
          <a:r>
            <a:rPr lang="en-US"/>
            <a:t>- </a:t>
          </a:r>
          <a:r>
            <a:rPr lang="en-US" b="1" i="1"/>
            <a:t>Most retail tools give you a "Target Price" based on a single line. MyQuant recognizes that the future is a "probability cloud," not a single point.</a:t>
          </a:r>
          <a:endParaRPr lang="en-US"/>
        </a:p>
      </dgm:t>
    </dgm:pt>
    <dgm:pt modelId="{903D4CAF-A9A8-4077-93F5-73C7521F36DF}" type="parTrans" cxnId="{95F00614-0BAF-47C5-AAF3-D4D5C326F4F1}">
      <dgm:prSet/>
      <dgm:spPr/>
      <dgm:t>
        <a:bodyPr/>
        <a:lstStyle/>
        <a:p>
          <a:endParaRPr lang="en-US"/>
        </a:p>
      </dgm:t>
    </dgm:pt>
    <dgm:pt modelId="{3C8811D0-0652-4CE6-AA05-6962FCF2FC4A}" type="sibTrans" cxnId="{95F00614-0BAF-47C5-AAF3-D4D5C326F4F1}">
      <dgm:prSet/>
      <dgm:spPr/>
      <dgm:t>
        <a:bodyPr/>
        <a:lstStyle/>
        <a:p>
          <a:endParaRPr lang="en-US"/>
        </a:p>
      </dgm:t>
    </dgm:pt>
    <dgm:pt modelId="{D3A8F9A8-97CA-4EA8-8101-21A165CCBE40}">
      <dgm:prSet/>
      <dgm:spPr/>
      <dgm:t>
        <a:bodyPr/>
        <a:lstStyle/>
        <a:p>
          <a:pPr>
            <a:lnSpc>
              <a:spcPct val="100000"/>
            </a:lnSpc>
          </a:pPr>
          <a:r>
            <a:rPr lang="en-US" b="1" dirty="0"/>
            <a:t>Geometric Brownian Motion Formula Integration - </a:t>
          </a:r>
          <a:r>
            <a:rPr lang="en-US" b="1" i="1" dirty="0"/>
            <a:t>Assuming a stocks return has two parts</a:t>
          </a:r>
          <a:endParaRPr lang="en-US" dirty="0"/>
        </a:p>
      </dgm:t>
    </dgm:pt>
    <dgm:pt modelId="{9A2607E7-E86D-469D-B0E5-7F13917322A6}" type="parTrans" cxnId="{C1E222AD-EDAE-4775-B1F7-614D051099D9}">
      <dgm:prSet/>
      <dgm:spPr/>
      <dgm:t>
        <a:bodyPr/>
        <a:lstStyle/>
        <a:p>
          <a:endParaRPr lang="en-US"/>
        </a:p>
      </dgm:t>
    </dgm:pt>
    <dgm:pt modelId="{5A3C1E61-5F61-485E-A894-FEB6BB3DE050}" type="sibTrans" cxnId="{C1E222AD-EDAE-4775-B1F7-614D051099D9}">
      <dgm:prSet/>
      <dgm:spPr/>
      <dgm:t>
        <a:bodyPr/>
        <a:lstStyle/>
        <a:p>
          <a:endParaRPr lang="en-US"/>
        </a:p>
      </dgm:t>
    </dgm:pt>
    <dgm:pt modelId="{586AAA48-7FFA-45B7-AD33-68A9D2498814}">
      <dgm:prSet/>
      <dgm:spPr/>
      <dgm:t>
        <a:bodyPr/>
        <a:lstStyle/>
        <a:p>
          <a:r>
            <a:rPr lang="en-US" b="1"/>
            <a:t>Drift: </a:t>
          </a:r>
          <a:r>
            <a:rPr lang="en-US"/>
            <a:t>Stead Average growth rate</a:t>
          </a:r>
        </a:p>
      </dgm:t>
    </dgm:pt>
    <dgm:pt modelId="{B9368741-59A9-48D1-9020-E5CF49AD3369}" type="parTrans" cxnId="{E8389A04-2ADC-41F9-92B5-60188607ADB8}">
      <dgm:prSet/>
      <dgm:spPr/>
      <dgm:t>
        <a:bodyPr/>
        <a:lstStyle/>
        <a:p>
          <a:endParaRPr lang="en-US"/>
        </a:p>
      </dgm:t>
    </dgm:pt>
    <dgm:pt modelId="{96D44677-85E7-4E80-B534-AB70BECED8F7}" type="sibTrans" cxnId="{E8389A04-2ADC-41F9-92B5-60188607ADB8}">
      <dgm:prSet/>
      <dgm:spPr/>
      <dgm:t>
        <a:bodyPr/>
        <a:lstStyle/>
        <a:p>
          <a:endParaRPr lang="en-US"/>
        </a:p>
      </dgm:t>
    </dgm:pt>
    <dgm:pt modelId="{50F66CB4-B813-45DE-9BA1-07E868F3D38D}">
      <dgm:prSet/>
      <dgm:spPr/>
      <dgm:t>
        <a:bodyPr/>
        <a:lstStyle/>
        <a:p>
          <a:r>
            <a:rPr lang="en-US" b="1"/>
            <a:t>Shock: </a:t>
          </a:r>
          <a:r>
            <a:rPr lang="en-US"/>
            <a:t>Market Noise aka. Volatility</a:t>
          </a:r>
        </a:p>
      </dgm:t>
    </dgm:pt>
    <dgm:pt modelId="{FC900BD8-BB14-4A13-982A-5F74529205EB}" type="parTrans" cxnId="{B96BC782-07CE-4799-8B0D-C8DD44ED87B5}">
      <dgm:prSet/>
      <dgm:spPr/>
      <dgm:t>
        <a:bodyPr/>
        <a:lstStyle/>
        <a:p>
          <a:endParaRPr lang="en-US"/>
        </a:p>
      </dgm:t>
    </dgm:pt>
    <dgm:pt modelId="{EA6193B0-6FDF-41AC-BF9A-2E2D3A08B7D7}" type="sibTrans" cxnId="{B96BC782-07CE-4799-8B0D-C8DD44ED87B5}">
      <dgm:prSet/>
      <dgm:spPr/>
      <dgm:t>
        <a:bodyPr/>
        <a:lstStyle/>
        <a:p>
          <a:endParaRPr lang="en-US"/>
        </a:p>
      </dgm:t>
    </dgm:pt>
    <dgm:pt modelId="{E4AE5600-AE36-49D4-9410-A11AEFC66100}">
      <dgm:prSet/>
      <dgm:spPr/>
      <dgm:t>
        <a:bodyPr/>
        <a:lstStyle/>
        <a:p>
          <a:pPr>
            <a:lnSpc>
              <a:spcPct val="100000"/>
            </a:lnSpc>
            <a:defRPr b="1"/>
          </a:pPr>
          <a:r>
            <a:rPr lang="en-US" b="1"/>
            <a:t>“By simulating 10,000 parallel "alternate universes" through a Monte Carlo engine, MyQuant moves beyond singular price targets to map every statistically probable outcome for a trade. This creates a high-fidelity frequency distribution at expiration, allowing us to mathematically calculate the "Probability of Profit" based on how many of those simulated paths exceed the breakeven threshold. This institutional approach replaces speculative guesswork with a concrete, data-driven edge”.</a:t>
          </a:r>
          <a:endParaRPr lang="en-US"/>
        </a:p>
      </dgm:t>
    </dgm:pt>
    <dgm:pt modelId="{11ED7DBA-90E6-44E4-B7BA-9475E1A75216}" type="parTrans" cxnId="{6EBB68C0-745E-4212-9225-E943222D1CEC}">
      <dgm:prSet/>
      <dgm:spPr/>
      <dgm:t>
        <a:bodyPr/>
        <a:lstStyle/>
        <a:p>
          <a:endParaRPr lang="en-US"/>
        </a:p>
      </dgm:t>
    </dgm:pt>
    <dgm:pt modelId="{2A9DA236-8B75-4C16-B678-D0CBCB24878E}" type="sibTrans" cxnId="{6EBB68C0-745E-4212-9225-E943222D1CEC}">
      <dgm:prSet/>
      <dgm:spPr/>
      <dgm:t>
        <a:bodyPr/>
        <a:lstStyle/>
        <a:p>
          <a:endParaRPr lang="en-US"/>
        </a:p>
      </dgm:t>
    </dgm:pt>
    <dgm:pt modelId="{067F411A-7136-458A-A36E-8D3C5F4BFB06}">
      <dgm:prSet/>
      <dgm:spPr/>
      <dgm:t>
        <a:bodyPr/>
        <a:lstStyle/>
        <a:p>
          <a:pPr>
            <a:lnSpc>
              <a:spcPct val="100000"/>
            </a:lnSpc>
            <a:defRPr b="1"/>
          </a:pPr>
          <a:r>
            <a:rPr lang="en-US" b="1" dirty="0"/>
            <a:t>Live Greeks </a:t>
          </a:r>
          <a:r>
            <a:rPr lang="en-US" dirty="0"/>
            <a:t>– </a:t>
          </a:r>
          <a:r>
            <a:rPr lang="en-US" b="1" i="1" dirty="0"/>
            <a:t>A model is only as good as its fuel. Static models fail because market conditions change by the second.</a:t>
          </a:r>
          <a:endParaRPr lang="en-US" dirty="0"/>
        </a:p>
      </dgm:t>
    </dgm:pt>
    <dgm:pt modelId="{D1AC0ADA-E03D-4FE6-B2C3-98442DD880D5}" type="parTrans" cxnId="{73C767F6-0AC7-4800-A47A-D33DC52604CE}">
      <dgm:prSet/>
      <dgm:spPr/>
      <dgm:t>
        <a:bodyPr/>
        <a:lstStyle/>
        <a:p>
          <a:endParaRPr lang="en-US"/>
        </a:p>
      </dgm:t>
    </dgm:pt>
    <dgm:pt modelId="{9556812E-BB88-41F3-BC7F-7B53ADC8EF0B}" type="sibTrans" cxnId="{73C767F6-0AC7-4800-A47A-D33DC52604CE}">
      <dgm:prSet/>
      <dgm:spPr/>
      <dgm:t>
        <a:bodyPr/>
        <a:lstStyle/>
        <a:p>
          <a:endParaRPr lang="en-US"/>
        </a:p>
      </dgm:t>
    </dgm:pt>
    <dgm:pt modelId="{DFC6328D-7CAB-4DE6-8B09-52DA23A0A0FC}">
      <dgm:prSet/>
      <dgm:spPr/>
      <dgm:t>
        <a:bodyPr/>
        <a:lstStyle/>
        <a:p>
          <a:pPr>
            <a:lnSpc>
              <a:spcPct val="100000"/>
            </a:lnSpc>
          </a:pPr>
          <a:r>
            <a:rPr lang="en-US" b="1" i="0" baseline="0"/>
            <a:t>Live Spot Price:</a:t>
          </a:r>
          <a:r>
            <a:rPr lang="en-US" b="0" i="0" baseline="0"/>
            <a:t> The simulation anchor. We pull the exact last-traded price so the "starting line" of our 10,000 paths is accurate to the moment.</a:t>
          </a:r>
          <a:endParaRPr lang="en-US"/>
        </a:p>
      </dgm:t>
    </dgm:pt>
    <dgm:pt modelId="{50387334-7CDA-4247-A467-7F4AF708295F}" type="parTrans" cxnId="{F8DFDD25-6348-40CC-BE4A-2592DEE63F6E}">
      <dgm:prSet/>
      <dgm:spPr/>
      <dgm:t>
        <a:bodyPr/>
        <a:lstStyle/>
        <a:p>
          <a:endParaRPr lang="en-US"/>
        </a:p>
      </dgm:t>
    </dgm:pt>
    <dgm:pt modelId="{430C1075-11DC-466F-9228-511C27A70EEA}" type="sibTrans" cxnId="{F8DFDD25-6348-40CC-BE4A-2592DEE63F6E}">
      <dgm:prSet/>
      <dgm:spPr/>
      <dgm:t>
        <a:bodyPr/>
        <a:lstStyle/>
        <a:p>
          <a:endParaRPr lang="en-US"/>
        </a:p>
      </dgm:t>
    </dgm:pt>
    <dgm:pt modelId="{C7AED137-9626-4E8E-BAC8-B2BCC2B351DE}">
      <dgm:prSet/>
      <dgm:spPr/>
      <dgm:t>
        <a:bodyPr/>
        <a:lstStyle/>
        <a:p>
          <a:pPr>
            <a:lnSpc>
              <a:spcPct val="100000"/>
            </a:lnSpc>
          </a:pPr>
          <a:r>
            <a:rPr lang="en-US" b="1" i="0" baseline="0" dirty="0"/>
            <a:t>Implied Volatility (</a:t>
          </a:r>
          <a:r>
            <a:rPr lang="el-GR" b="1" i="0" baseline="0" dirty="0"/>
            <a:t>σ</a:t>
          </a:r>
          <a:r>
            <a:rPr lang="en-US" b="1" i="0" baseline="0" dirty="0"/>
            <a:t>):</a:t>
          </a:r>
          <a:r>
            <a:rPr lang="en-US" b="0" i="0" baseline="0" dirty="0"/>
            <a:t> IV isn't calculated by one person; it is </a:t>
          </a:r>
          <a:r>
            <a:rPr lang="en-US" i="0" baseline="0" dirty="0"/>
            <a:t>dictated by the market</a:t>
          </a:r>
          <a:r>
            <a:rPr lang="en-US" b="0" i="0" baseline="0" dirty="0"/>
            <a:t>. It represents the collective </a:t>
          </a:r>
          <a:r>
            <a:rPr lang="en-US" dirty="0"/>
            <a:t>decisions </a:t>
          </a:r>
          <a:r>
            <a:rPr lang="en-US" b="0" i="0" baseline="0" dirty="0"/>
            <a:t>of every trader in the world.</a:t>
          </a:r>
          <a:endParaRPr lang="en-US" dirty="0"/>
        </a:p>
      </dgm:t>
    </dgm:pt>
    <dgm:pt modelId="{9265B07F-D40E-46D2-B140-C56D2A2962B7}" type="parTrans" cxnId="{EBDE863D-9FE5-4E97-B019-F5CD388D2A7E}">
      <dgm:prSet/>
      <dgm:spPr/>
      <dgm:t>
        <a:bodyPr/>
        <a:lstStyle/>
        <a:p>
          <a:endParaRPr lang="en-US"/>
        </a:p>
      </dgm:t>
    </dgm:pt>
    <dgm:pt modelId="{F8622E0F-AE55-4552-A68D-D5CCBABD1AC6}" type="sibTrans" cxnId="{EBDE863D-9FE5-4E97-B019-F5CD388D2A7E}">
      <dgm:prSet/>
      <dgm:spPr/>
      <dgm:t>
        <a:bodyPr/>
        <a:lstStyle/>
        <a:p>
          <a:endParaRPr lang="en-US"/>
        </a:p>
      </dgm:t>
    </dgm:pt>
    <dgm:pt modelId="{C49E804B-1FA4-46A4-BCBE-EBA4F6317EE6}">
      <dgm:prSet/>
      <dgm:spPr/>
      <dgm:t>
        <a:bodyPr/>
        <a:lstStyle/>
        <a:p>
          <a:pPr>
            <a:lnSpc>
              <a:spcPct val="100000"/>
            </a:lnSpc>
          </a:pPr>
          <a:r>
            <a:rPr lang="en-US" b="1" i="0" baseline="0" dirty="0"/>
            <a:t>The API Advantage:</a:t>
          </a:r>
          <a:r>
            <a:rPr lang="en-US" b="0" i="0" baseline="0" dirty="0"/>
            <a:t> By using the </a:t>
          </a:r>
          <a:r>
            <a:rPr lang="en-US" b="0" i="0" baseline="0" dirty="0" err="1"/>
            <a:t>yfinance</a:t>
          </a:r>
          <a:r>
            <a:rPr lang="en-US" b="0" i="0" baseline="0" dirty="0"/>
            <a:t> API, </a:t>
          </a:r>
          <a:r>
            <a:rPr lang="en-US" b="0" i="0" baseline="0" dirty="0" err="1"/>
            <a:t>MyQuant</a:t>
          </a:r>
          <a:r>
            <a:rPr lang="en-US" b="0" i="0" baseline="0" dirty="0"/>
            <a:t> captures </a:t>
          </a:r>
          <a:r>
            <a:rPr lang="en-US" i="0" baseline="0" dirty="0"/>
            <a:t>"IV Crush" </a:t>
          </a:r>
          <a:r>
            <a:rPr lang="en-US" b="0" i="0" baseline="0" dirty="0"/>
            <a:t>potential. If you are trading through an earnings report, the IV will be massive, and </a:t>
          </a:r>
          <a:r>
            <a:rPr lang="en-US" b="0" i="0" baseline="0" dirty="0" err="1"/>
            <a:t>MyQuant</a:t>
          </a:r>
          <a:r>
            <a:rPr lang="en-US" b="0" i="0" baseline="0" dirty="0"/>
            <a:t> will automatically show you that you need a much larger price move to break even, preventing "Volatility Trap“ in trades.</a:t>
          </a:r>
          <a:endParaRPr lang="en-US" dirty="0"/>
        </a:p>
      </dgm:t>
    </dgm:pt>
    <dgm:pt modelId="{F004AC31-192F-4D89-9264-360608FE3E97}" type="parTrans" cxnId="{8A56C1B3-D3A1-4623-B0E3-B87269FB1810}">
      <dgm:prSet/>
      <dgm:spPr/>
      <dgm:t>
        <a:bodyPr/>
        <a:lstStyle/>
        <a:p>
          <a:endParaRPr lang="en-US"/>
        </a:p>
      </dgm:t>
    </dgm:pt>
    <dgm:pt modelId="{3F88AF74-6B3C-42BC-A88E-3B4DF1679E1E}" type="sibTrans" cxnId="{8A56C1B3-D3A1-4623-B0E3-B87269FB1810}">
      <dgm:prSet/>
      <dgm:spPr/>
      <dgm:t>
        <a:bodyPr/>
        <a:lstStyle/>
        <a:p>
          <a:endParaRPr lang="en-US"/>
        </a:p>
      </dgm:t>
    </dgm:pt>
    <dgm:pt modelId="{371D3EB8-48B5-441C-A09E-A75872D201B1}">
      <dgm:prSet/>
      <dgm:spPr/>
      <dgm:t>
        <a:bodyPr/>
        <a:lstStyle/>
        <a:p>
          <a:pPr>
            <a:lnSpc>
              <a:spcPct val="100000"/>
            </a:lnSpc>
            <a:defRPr b="1"/>
          </a:pPr>
          <a:r>
            <a:rPr lang="en-US" b="1"/>
            <a:t>Lognormal Distributions </a:t>
          </a:r>
          <a:r>
            <a:rPr lang="en-US"/>
            <a:t>- </a:t>
          </a:r>
          <a:r>
            <a:rPr lang="en-US" b="1" i="1"/>
            <a:t>Why do we use a Lognormal distribution instead of a standard Bell Curve? Because of a fundamental rule in finance: A stock cannot go below $0.</a:t>
          </a:r>
          <a:endParaRPr lang="en-US"/>
        </a:p>
      </dgm:t>
    </dgm:pt>
    <dgm:pt modelId="{27F6B951-A4B7-4717-9D93-00230CFC543F}" type="parTrans" cxnId="{46957D62-94EF-4A9B-AB04-FA9170D05A96}">
      <dgm:prSet/>
      <dgm:spPr/>
      <dgm:t>
        <a:bodyPr/>
        <a:lstStyle/>
        <a:p>
          <a:endParaRPr lang="en-US"/>
        </a:p>
      </dgm:t>
    </dgm:pt>
    <dgm:pt modelId="{CE24AB77-37A4-4A47-BF54-43025FDE83FB}" type="sibTrans" cxnId="{46957D62-94EF-4A9B-AB04-FA9170D05A96}">
      <dgm:prSet/>
      <dgm:spPr/>
      <dgm:t>
        <a:bodyPr/>
        <a:lstStyle/>
        <a:p>
          <a:endParaRPr lang="en-US"/>
        </a:p>
      </dgm:t>
    </dgm:pt>
    <dgm:pt modelId="{2F68C6BE-6042-463F-8ED4-3FD37679B481}">
      <dgm:prSet/>
      <dgm:spPr/>
      <dgm:t>
        <a:bodyPr/>
        <a:lstStyle/>
        <a:p>
          <a:pPr>
            <a:lnSpc>
              <a:spcPct val="100000"/>
            </a:lnSpc>
          </a:pPr>
          <a:r>
            <a:rPr lang="en-US" b="1" dirty="0"/>
            <a:t>The Standard Bell Curve: </a:t>
          </a:r>
          <a:r>
            <a:rPr lang="en-US" dirty="0"/>
            <a:t>Assumes the stock of a company can go to Negative 50 Dollars which would literally never happen, hindering your probability calculation to begin with</a:t>
          </a:r>
        </a:p>
      </dgm:t>
    </dgm:pt>
    <dgm:pt modelId="{21AD8249-7BDD-4C15-BA72-CBD3E48C965A}" type="parTrans" cxnId="{F1ED83D7-A2C7-4791-95C4-31A1EF33B78C}">
      <dgm:prSet/>
      <dgm:spPr/>
      <dgm:t>
        <a:bodyPr/>
        <a:lstStyle/>
        <a:p>
          <a:endParaRPr lang="en-US"/>
        </a:p>
      </dgm:t>
    </dgm:pt>
    <dgm:pt modelId="{F6DC33FF-D18E-42B9-A977-3D9661D18144}" type="sibTrans" cxnId="{F1ED83D7-A2C7-4791-95C4-31A1EF33B78C}">
      <dgm:prSet/>
      <dgm:spPr/>
      <dgm:t>
        <a:bodyPr/>
        <a:lstStyle/>
        <a:p>
          <a:endParaRPr lang="en-US"/>
        </a:p>
      </dgm:t>
    </dgm:pt>
    <dgm:pt modelId="{14A528C3-EBC0-4700-A203-637E3C90855D}">
      <dgm:prSet/>
      <dgm:spPr/>
      <dgm:t>
        <a:bodyPr/>
        <a:lstStyle/>
        <a:p>
          <a:pPr>
            <a:lnSpc>
              <a:spcPct val="100000"/>
            </a:lnSpc>
          </a:pPr>
          <a:r>
            <a:rPr lang="en-US" b="1"/>
            <a:t>Lognormal Curve:</a:t>
          </a:r>
          <a:r>
            <a:rPr lang="en-US"/>
            <a:t> This model is superior as it assumes at hard floor of 0 dollars and implies unlimited upside to the right or positive direction of the Stock.</a:t>
          </a:r>
        </a:p>
      </dgm:t>
    </dgm:pt>
    <dgm:pt modelId="{B168D425-D6DB-4F1B-A512-6CF5A59B2255}" type="parTrans" cxnId="{2A27AF55-DED7-47F2-9BB9-02EBDF8AB9CD}">
      <dgm:prSet/>
      <dgm:spPr/>
      <dgm:t>
        <a:bodyPr/>
        <a:lstStyle/>
        <a:p>
          <a:endParaRPr lang="en-US"/>
        </a:p>
      </dgm:t>
    </dgm:pt>
    <dgm:pt modelId="{DBC9D2AA-6624-4401-9B2B-BB699A5F34D8}" type="sibTrans" cxnId="{2A27AF55-DED7-47F2-9BB9-02EBDF8AB9CD}">
      <dgm:prSet/>
      <dgm:spPr/>
      <dgm:t>
        <a:bodyPr/>
        <a:lstStyle/>
        <a:p>
          <a:endParaRPr lang="en-US"/>
        </a:p>
      </dgm:t>
    </dgm:pt>
    <dgm:pt modelId="{CA1B1AD2-A8FE-4298-A98B-CADF846B7436}">
      <dgm:prSet/>
      <dgm:spPr/>
      <dgm:t>
        <a:bodyPr/>
        <a:lstStyle/>
        <a:p>
          <a:pPr>
            <a:lnSpc>
              <a:spcPct val="100000"/>
            </a:lnSpc>
          </a:pPr>
          <a:r>
            <a:rPr lang="en-US" b="1"/>
            <a:t>Institutional Importance: </a:t>
          </a:r>
          <a:r>
            <a:rPr lang="en-US"/>
            <a:t>Major Wall Street Firms like Goldman or Barclays model risk similarly. For example, if a stock can only lose 100% of its value, there is a possibility of 1000% upside.</a:t>
          </a:r>
        </a:p>
      </dgm:t>
    </dgm:pt>
    <dgm:pt modelId="{066D4448-B105-4C2D-A99B-173ABE2DAD91}" type="parTrans" cxnId="{3802DF3D-CF82-4FF6-8590-E3B1D0AE37B5}">
      <dgm:prSet/>
      <dgm:spPr/>
      <dgm:t>
        <a:bodyPr/>
        <a:lstStyle/>
        <a:p>
          <a:endParaRPr lang="en-US"/>
        </a:p>
      </dgm:t>
    </dgm:pt>
    <dgm:pt modelId="{25D11219-6DCF-47B6-B66F-F53894D7F28C}" type="sibTrans" cxnId="{3802DF3D-CF82-4FF6-8590-E3B1D0AE37B5}">
      <dgm:prSet/>
      <dgm:spPr/>
      <dgm:t>
        <a:bodyPr/>
        <a:lstStyle/>
        <a:p>
          <a:endParaRPr lang="en-US"/>
        </a:p>
      </dgm:t>
    </dgm:pt>
    <dgm:pt modelId="{C5B8055A-8D1E-4129-865F-4AC7B4F2EF1B}" type="pres">
      <dgm:prSet presAssocID="{56D1A31F-BA99-4A69-8A82-68D11C01956F}" presName="root" presStyleCnt="0">
        <dgm:presLayoutVars>
          <dgm:dir/>
          <dgm:resizeHandles val="exact"/>
        </dgm:presLayoutVars>
      </dgm:prSet>
      <dgm:spPr/>
    </dgm:pt>
    <dgm:pt modelId="{1B9CA749-E81B-40DD-958F-1F4D94B79EBC}" type="pres">
      <dgm:prSet presAssocID="{BD897D9A-468D-4198-8926-0441AF3CB869}" presName="compNode" presStyleCnt="0"/>
      <dgm:spPr/>
    </dgm:pt>
    <dgm:pt modelId="{07E58A63-88F4-4631-AC25-420EC284884F}" type="pres">
      <dgm:prSet presAssocID="{BD897D9A-468D-4198-8926-0441AF3CB86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EB5D537B-3AFF-4C9A-A21F-F046BE2992B2}" type="pres">
      <dgm:prSet presAssocID="{BD897D9A-468D-4198-8926-0441AF3CB869}" presName="iconSpace" presStyleCnt="0"/>
      <dgm:spPr/>
    </dgm:pt>
    <dgm:pt modelId="{28C81085-DBA0-4FB2-B876-B1AB65C9318D}" type="pres">
      <dgm:prSet presAssocID="{BD897D9A-468D-4198-8926-0441AF3CB869}" presName="parTx" presStyleLbl="revTx" presStyleIdx="0" presStyleCnt="8">
        <dgm:presLayoutVars>
          <dgm:chMax val="0"/>
          <dgm:chPref val="0"/>
        </dgm:presLayoutVars>
      </dgm:prSet>
      <dgm:spPr/>
    </dgm:pt>
    <dgm:pt modelId="{ADE7745F-6344-48AB-B9E9-0E7D8DDD9BB0}" type="pres">
      <dgm:prSet presAssocID="{BD897D9A-468D-4198-8926-0441AF3CB869}" presName="txSpace" presStyleCnt="0"/>
      <dgm:spPr/>
    </dgm:pt>
    <dgm:pt modelId="{0D23645D-B2CC-411B-8393-6DA3AD505183}" type="pres">
      <dgm:prSet presAssocID="{BD897D9A-468D-4198-8926-0441AF3CB869}" presName="desTx" presStyleLbl="revTx" presStyleIdx="1" presStyleCnt="8" custLinFactY="-100000" custLinFactNeighborX="208" custLinFactNeighborY="-142812">
        <dgm:presLayoutVars/>
      </dgm:prSet>
      <dgm:spPr/>
    </dgm:pt>
    <dgm:pt modelId="{1D9FEDFA-9E9A-406B-B611-108343CDEF3E}" type="pres">
      <dgm:prSet presAssocID="{3C8811D0-0652-4CE6-AA05-6962FCF2FC4A}" presName="sibTrans" presStyleCnt="0"/>
      <dgm:spPr/>
    </dgm:pt>
    <dgm:pt modelId="{2CAF3DD3-1C3B-44A0-8F4B-7D5791391DE7}" type="pres">
      <dgm:prSet presAssocID="{E4AE5600-AE36-49D4-9410-A11AEFC66100}" presName="compNode" presStyleCnt="0"/>
      <dgm:spPr/>
    </dgm:pt>
    <dgm:pt modelId="{E0A71D0D-1147-4AD9-BF98-7A2B819A481A}" type="pres">
      <dgm:prSet presAssocID="{E4AE5600-AE36-49D4-9410-A11AEFC6610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Graph with Upward Trend"/>
        </a:ext>
      </dgm:extLst>
    </dgm:pt>
    <dgm:pt modelId="{5CB3B91D-8269-480E-8B20-E976E2E6222C}" type="pres">
      <dgm:prSet presAssocID="{E4AE5600-AE36-49D4-9410-A11AEFC66100}" presName="iconSpace" presStyleCnt="0"/>
      <dgm:spPr/>
    </dgm:pt>
    <dgm:pt modelId="{A0D7BBE5-A63F-4058-961C-9E6174890194}" type="pres">
      <dgm:prSet presAssocID="{E4AE5600-AE36-49D4-9410-A11AEFC66100}" presName="parTx" presStyleLbl="revTx" presStyleIdx="2" presStyleCnt="8">
        <dgm:presLayoutVars>
          <dgm:chMax val="0"/>
          <dgm:chPref val="0"/>
        </dgm:presLayoutVars>
      </dgm:prSet>
      <dgm:spPr/>
    </dgm:pt>
    <dgm:pt modelId="{D5B27F32-6F49-4E53-96EF-D34753F6ED98}" type="pres">
      <dgm:prSet presAssocID="{E4AE5600-AE36-49D4-9410-A11AEFC66100}" presName="txSpace" presStyleCnt="0"/>
      <dgm:spPr/>
    </dgm:pt>
    <dgm:pt modelId="{C8CE069F-6834-4453-931D-EF56664CCB05}" type="pres">
      <dgm:prSet presAssocID="{E4AE5600-AE36-49D4-9410-A11AEFC66100}" presName="desTx" presStyleLbl="revTx" presStyleIdx="3" presStyleCnt="8">
        <dgm:presLayoutVars/>
      </dgm:prSet>
      <dgm:spPr/>
    </dgm:pt>
    <dgm:pt modelId="{4E1A1E59-604A-470C-B394-2209C98072E9}" type="pres">
      <dgm:prSet presAssocID="{2A9DA236-8B75-4C16-B678-D0CBCB24878E}" presName="sibTrans" presStyleCnt="0"/>
      <dgm:spPr/>
    </dgm:pt>
    <dgm:pt modelId="{FC953E96-37F4-4322-9E9A-5E219BFEE9CE}" type="pres">
      <dgm:prSet presAssocID="{067F411A-7136-458A-A36E-8D3C5F4BFB06}" presName="compNode" presStyleCnt="0"/>
      <dgm:spPr/>
    </dgm:pt>
    <dgm:pt modelId="{49A3E082-9BD3-4DEE-885B-C765430188D4}" type="pres">
      <dgm:prSet presAssocID="{067F411A-7136-458A-A36E-8D3C5F4BFB0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F9807FE4-BE30-4E38-9099-88214E748BAB}" type="pres">
      <dgm:prSet presAssocID="{067F411A-7136-458A-A36E-8D3C5F4BFB06}" presName="iconSpace" presStyleCnt="0"/>
      <dgm:spPr/>
    </dgm:pt>
    <dgm:pt modelId="{9DACF80A-6047-4F77-82F0-DE75CC5EFF5F}" type="pres">
      <dgm:prSet presAssocID="{067F411A-7136-458A-A36E-8D3C5F4BFB06}" presName="parTx" presStyleLbl="revTx" presStyleIdx="4" presStyleCnt="8">
        <dgm:presLayoutVars>
          <dgm:chMax val="0"/>
          <dgm:chPref val="0"/>
        </dgm:presLayoutVars>
      </dgm:prSet>
      <dgm:spPr/>
    </dgm:pt>
    <dgm:pt modelId="{6C3DD74C-3890-4953-9553-1506917723EC}" type="pres">
      <dgm:prSet presAssocID="{067F411A-7136-458A-A36E-8D3C5F4BFB06}" presName="txSpace" presStyleCnt="0"/>
      <dgm:spPr/>
    </dgm:pt>
    <dgm:pt modelId="{159BDCD2-AE5B-4371-86B2-68122BA6E7C6}" type="pres">
      <dgm:prSet presAssocID="{067F411A-7136-458A-A36E-8D3C5F4BFB06}" presName="desTx" presStyleLbl="revTx" presStyleIdx="5" presStyleCnt="8" custLinFactY="-140557" custLinFactNeighborX="-683" custLinFactNeighborY="-200000">
        <dgm:presLayoutVars/>
      </dgm:prSet>
      <dgm:spPr/>
    </dgm:pt>
    <dgm:pt modelId="{826B4900-C622-4E3D-A96E-3272BA86CE5D}" type="pres">
      <dgm:prSet presAssocID="{9556812E-BB88-41F3-BC7F-7B53ADC8EF0B}" presName="sibTrans" presStyleCnt="0"/>
      <dgm:spPr/>
    </dgm:pt>
    <dgm:pt modelId="{DC89076E-F570-4693-B7A9-BDD82D3B99AC}" type="pres">
      <dgm:prSet presAssocID="{371D3EB8-48B5-441C-A09E-A75872D201B1}" presName="compNode" presStyleCnt="0"/>
      <dgm:spPr/>
    </dgm:pt>
    <dgm:pt modelId="{3B207269-0317-449F-8AC6-00CA5D1F7E39}" type="pres">
      <dgm:prSet presAssocID="{371D3EB8-48B5-441C-A09E-A75872D201B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Graph with Downward Trend"/>
        </a:ext>
      </dgm:extLst>
    </dgm:pt>
    <dgm:pt modelId="{07BE33CB-56E5-44BC-BA02-F6869909F3F8}" type="pres">
      <dgm:prSet presAssocID="{371D3EB8-48B5-441C-A09E-A75872D201B1}" presName="iconSpace" presStyleCnt="0"/>
      <dgm:spPr/>
    </dgm:pt>
    <dgm:pt modelId="{CE577D33-BE0F-4CAE-8C3D-471ED170B882}" type="pres">
      <dgm:prSet presAssocID="{371D3EB8-48B5-441C-A09E-A75872D201B1}" presName="parTx" presStyleLbl="revTx" presStyleIdx="6" presStyleCnt="8">
        <dgm:presLayoutVars>
          <dgm:chMax val="0"/>
          <dgm:chPref val="0"/>
        </dgm:presLayoutVars>
      </dgm:prSet>
      <dgm:spPr/>
    </dgm:pt>
    <dgm:pt modelId="{03667437-5B75-458C-A8F1-552DDCFC5C32}" type="pres">
      <dgm:prSet presAssocID="{371D3EB8-48B5-441C-A09E-A75872D201B1}" presName="txSpace" presStyleCnt="0"/>
      <dgm:spPr/>
    </dgm:pt>
    <dgm:pt modelId="{FA59FB08-46D5-4AA8-9058-F16912B46076}" type="pres">
      <dgm:prSet presAssocID="{371D3EB8-48B5-441C-A09E-A75872D201B1}" presName="desTx" presStyleLbl="revTx" presStyleIdx="7" presStyleCnt="8" custLinFactY="-100000" custLinFactNeighborY="-169250">
        <dgm:presLayoutVars/>
      </dgm:prSet>
      <dgm:spPr/>
    </dgm:pt>
  </dgm:ptLst>
  <dgm:cxnLst>
    <dgm:cxn modelId="{E8389A04-2ADC-41F9-92B5-60188607ADB8}" srcId="{D3A8F9A8-97CA-4EA8-8101-21A165CCBE40}" destId="{586AAA48-7FFA-45B7-AD33-68A9D2498814}" srcOrd="0" destOrd="0" parTransId="{B9368741-59A9-48D1-9020-E5CF49AD3369}" sibTransId="{96D44677-85E7-4E80-B534-AB70BECED8F7}"/>
    <dgm:cxn modelId="{95F00614-0BAF-47C5-AAF3-D4D5C326F4F1}" srcId="{56D1A31F-BA99-4A69-8A82-68D11C01956F}" destId="{BD897D9A-468D-4198-8926-0441AF3CB869}" srcOrd="0" destOrd="0" parTransId="{903D4CAF-A9A8-4077-93F5-73C7521F36DF}" sibTransId="{3C8811D0-0652-4CE6-AA05-6962FCF2FC4A}"/>
    <dgm:cxn modelId="{F8DFDD25-6348-40CC-BE4A-2592DEE63F6E}" srcId="{067F411A-7136-458A-A36E-8D3C5F4BFB06}" destId="{DFC6328D-7CAB-4DE6-8B09-52DA23A0A0FC}" srcOrd="0" destOrd="0" parTransId="{50387334-7CDA-4247-A467-7F4AF708295F}" sibTransId="{430C1075-11DC-466F-9228-511C27A70EEA}"/>
    <dgm:cxn modelId="{C89CBA28-6AF3-48A5-B52A-A5DC5FF4274A}" type="presOf" srcId="{371D3EB8-48B5-441C-A09E-A75872D201B1}" destId="{CE577D33-BE0F-4CAE-8C3D-471ED170B882}" srcOrd="0" destOrd="0" presId="urn:microsoft.com/office/officeart/2018/2/layout/IconLabelDescriptionList"/>
    <dgm:cxn modelId="{76EF562D-7096-4815-8822-C7BB4F0846CA}" type="presOf" srcId="{C7AED137-9626-4E8E-BAC8-B2BCC2B351DE}" destId="{159BDCD2-AE5B-4371-86B2-68122BA6E7C6}" srcOrd="0" destOrd="1" presId="urn:microsoft.com/office/officeart/2018/2/layout/IconLabelDescriptionList"/>
    <dgm:cxn modelId="{EBDE863D-9FE5-4E97-B019-F5CD388D2A7E}" srcId="{067F411A-7136-458A-A36E-8D3C5F4BFB06}" destId="{C7AED137-9626-4E8E-BAC8-B2BCC2B351DE}" srcOrd="1" destOrd="0" parTransId="{9265B07F-D40E-46D2-B140-C56D2A2962B7}" sibTransId="{F8622E0F-AE55-4552-A68D-D5CCBABD1AC6}"/>
    <dgm:cxn modelId="{3802DF3D-CF82-4FF6-8590-E3B1D0AE37B5}" srcId="{371D3EB8-48B5-441C-A09E-A75872D201B1}" destId="{CA1B1AD2-A8FE-4298-A98B-CADF846B7436}" srcOrd="2" destOrd="0" parTransId="{066D4448-B105-4C2D-A99B-173ABE2DAD91}" sibTransId="{25D11219-6DCF-47B6-B66F-F53894D7F28C}"/>
    <dgm:cxn modelId="{46957D62-94EF-4A9B-AB04-FA9170D05A96}" srcId="{56D1A31F-BA99-4A69-8A82-68D11C01956F}" destId="{371D3EB8-48B5-441C-A09E-A75872D201B1}" srcOrd="3" destOrd="0" parTransId="{27F6B951-A4B7-4717-9D93-00230CFC543F}" sibTransId="{CE24AB77-37A4-4A47-BF54-43025FDE83FB}"/>
    <dgm:cxn modelId="{52B33965-0213-4EEC-A593-41EC0484516C}" type="presOf" srcId="{586AAA48-7FFA-45B7-AD33-68A9D2498814}" destId="{0D23645D-B2CC-411B-8393-6DA3AD505183}" srcOrd="0" destOrd="1" presId="urn:microsoft.com/office/officeart/2018/2/layout/IconLabelDescriptionList"/>
    <dgm:cxn modelId="{AB8F946A-8492-4532-9FBA-690C764238B7}" type="presOf" srcId="{56D1A31F-BA99-4A69-8A82-68D11C01956F}" destId="{C5B8055A-8D1E-4129-865F-4AC7B4F2EF1B}" srcOrd="0" destOrd="0" presId="urn:microsoft.com/office/officeart/2018/2/layout/IconLabelDescriptionList"/>
    <dgm:cxn modelId="{2A27AF55-DED7-47F2-9BB9-02EBDF8AB9CD}" srcId="{371D3EB8-48B5-441C-A09E-A75872D201B1}" destId="{14A528C3-EBC0-4700-A203-637E3C90855D}" srcOrd="1" destOrd="0" parTransId="{B168D425-D6DB-4F1B-A512-6CF5A59B2255}" sibTransId="{DBC9D2AA-6624-4401-9B2B-BB699A5F34D8}"/>
    <dgm:cxn modelId="{736AC97B-EE9F-4707-A259-3BE4C3289126}" type="presOf" srcId="{14A528C3-EBC0-4700-A203-637E3C90855D}" destId="{FA59FB08-46D5-4AA8-9058-F16912B46076}" srcOrd="0" destOrd="1" presId="urn:microsoft.com/office/officeart/2018/2/layout/IconLabelDescriptionList"/>
    <dgm:cxn modelId="{B96BC782-07CE-4799-8B0D-C8DD44ED87B5}" srcId="{D3A8F9A8-97CA-4EA8-8101-21A165CCBE40}" destId="{50F66CB4-B813-45DE-9BA1-07E868F3D38D}" srcOrd="1" destOrd="0" parTransId="{FC900BD8-BB14-4A13-982A-5F74529205EB}" sibTransId="{EA6193B0-6FDF-41AC-BF9A-2E2D3A08B7D7}"/>
    <dgm:cxn modelId="{FC454390-1C1B-4395-BD8D-6132CB99D58B}" type="presOf" srcId="{BD897D9A-468D-4198-8926-0441AF3CB869}" destId="{28C81085-DBA0-4FB2-B876-B1AB65C9318D}" srcOrd="0" destOrd="0" presId="urn:microsoft.com/office/officeart/2018/2/layout/IconLabelDescriptionList"/>
    <dgm:cxn modelId="{9EA4B598-7AEB-4A4E-93AC-3238EF950A1D}" type="presOf" srcId="{C49E804B-1FA4-46A4-BCBE-EBA4F6317EE6}" destId="{159BDCD2-AE5B-4371-86B2-68122BA6E7C6}" srcOrd="0" destOrd="2" presId="urn:microsoft.com/office/officeart/2018/2/layout/IconLabelDescriptionList"/>
    <dgm:cxn modelId="{FC90D09A-DEB5-47FA-A5DD-21E4845E9C63}" type="presOf" srcId="{067F411A-7136-458A-A36E-8D3C5F4BFB06}" destId="{9DACF80A-6047-4F77-82F0-DE75CC5EFF5F}" srcOrd="0" destOrd="0" presId="urn:microsoft.com/office/officeart/2018/2/layout/IconLabelDescriptionList"/>
    <dgm:cxn modelId="{C1E222AD-EDAE-4775-B1F7-614D051099D9}" srcId="{BD897D9A-468D-4198-8926-0441AF3CB869}" destId="{D3A8F9A8-97CA-4EA8-8101-21A165CCBE40}" srcOrd="0" destOrd="0" parTransId="{9A2607E7-E86D-469D-B0E5-7F13917322A6}" sibTransId="{5A3C1E61-5F61-485E-A894-FEB6BB3DE050}"/>
    <dgm:cxn modelId="{8A56C1B3-D3A1-4623-B0E3-B87269FB1810}" srcId="{067F411A-7136-458A-A36E-8D3C5F4BFB06}" destId="{C49E804B-1FA4-46A4-BCBE-EBA4F6317EE6}" srcOrd="2" destOrd="0" parTransId="{F004AC31-192F-4D89-9264-360608FE3E97}" sibTransId="{3F88AF74-6B3C-42BC-A88E-3B4DF1679E1E}"/>
    <dgm:cxn modelId="{D22B15B4-F738-48EB-91EB-2ECA4CB67B15}" type="presOf" srcId="{D3A8F9A8-97CA-4EA8-8101-21A165CCBE40}" destId="{0D23645D-B2CC-411B-8393-6DA3AD505183}" srcOrd="0" destOrd="0" presId="urn:microsoft.com/office/officeart/2018/2/layout/IconLabelDescriptionList"/>
    <dgm:cxn modelId="{C69EDABE-F61B-42B9-BB97-A95E0CC01ADF}" type="presOf" srcId="{DFC6328D-7CAB-4DE6-8B09-52DA23A0A0FC}" destId="{159BDCD2-AE5B-4371-86B2-68122BA6E7C6}" srcOrd="0" destOrd="0" presId="urn:microsoft.com/office/officeart/2018/2/layout/IconLabelDescriptionList"/>
    <dgm:cxn modelId="{6EBB68C0-745E-4212-9225-E943222D1CEC}" srcId="{56D1A31F-BA99-4A69-8A82-68D11C01956F}" destId="{E4AE5600-AE36-49D4-9410-A11AEFC66100}" srcOrd="1" destOrd="0" parTransId="{11ED7DBA-90E6-44E4-B7BA-9475E1A75216}" sibTransId="{2A9DA236-8B75-4C16-B678-D0CBCB24878E}"/>
    <dgm:cxn modelId="{C9D92CC6-89A7-4C06-AA8D-886EB2F05A29}" type="presOf" srcId="{2F68C6BE-6042-463F-8ED4-3FD37679B481}" destId="{FA59FB08-46D5-4AA8-9058-F16912B46076}" srcOrd="0" destOrd="0" presId="urn:microsoft.com/office/officeart/2018/2/layout/IconLabelDescriptionList"/>
    <dgm:cxn modelId="{1932B4CC-D523-405E-BEE8-18035EA7B95B}" type="presOf" srcId="{CA1B1AD2-A8FE-4298-A98B-CADF846B7436}" destId="{FA59FB08-46D5-4AA8-9058-F16912B46076}" srcOrd="0" destOrd="2" presId="urn:microsoft.com/office/officeart/2018/2/layout/IconLabelDescriptionList"/>
    <dgm:cxn modelId="{EC7CC9D4-18FA-4F18-B2AB-35604DDA06B8}" type="presOf" srcId="{50F66CB4-B813-45DE-9BA1-07E868F3D38D}" destId="{0D23645D-B2CC-411B-8393-6DA3AD505183}" srcOrd="0" destOrd="2" presId="urn:microsoft.com/office/officeart/2018/2/layout/IconLabelDescriptionList"/>
    <dgm:cxn modelId="{F1ED83D7-A2C7-4791-95C4-31A1EF33B78C}" srcId="{371D3EB8-48B5-441C-A09E-A75872D201B1}" destId="{2F68C6BE-6042-463F-8ED4-3FD37679B481}" srcOrd="0" destOrd="0" parTransId="{21AD8249-7BDD-4C15-BA72-CBD3E48C965A}" sibTransId="{F6DC33FF-D18E-42B9-A977-3D9661D18144}"/>
    <dgm:cxn modelId="{EC8804EB-F243-43D6-A191-B5D872B5D610}" type="presOf" srcId="{E4AE5600-AE36-49D4-9410-A11AEFC66100}" destId="{A0D7BBE5-A63F-4058-961C-9E6174890194}" srcOrd="0" destOrd="0" presId="urn:microsoft.com/office/officeart/2018/2/layout/IconLabelDescriptionList"/>
    <dgm:cxn modelId="{73C767F6-0AC7-4800-A47A-D33DC52604CE}" srcId="{56D1A31F-BA99-4A69-8A82-68D11C01956F}" destId="{067F411A-7136-458A-A36E-8D3C5F4BFB06}" srcOrd="2" destOrd="0" parTransId="{D1AC0ADA-E03D-4FE6-B2C3-98442DD880D5}" sibTransId="{9556812E-BB88-41F3-BC7F-7B53ADC8EF0B}"/>
    <dgm:cxn modelId="{243F8FE3-39AD-4DAA-9A01-759097A29C82}" type="presParOf" srcId="{C5B8055A-8D1E-4129-865F-4AC7B4F2EF1B}" destId="{1B9CA749-E81B-40DD-958F-1F4D94B79EBC}" srcOrd="0" destOrd="0" presId="urn:microsoft.com/office/officeart/2018/2/layout/IconLabelDescriptionList"/>
    <dgm:cxn modelId="{E713468C-E85D-4D2E-A08F-F7923E1C736C}" type="presParOf" srcId="{1B9CA749-E81B-40DD-958F-1F4D94B79EBC}" destId="{07E58A63-88F4-4631-AC25-420EC284884F}" srcOrd="0" destOrd="0" presId="urn:microsoft.com/office/officeart/2018/2/layout/IconLabelDescriptionList"/>
    <dgm:cxn modelId="{6C24EF22-2D5A-4704-AA4A-C98DF8D769A2}" type="presParOf" srcId="{1B9CA749-E81B-40DD-958F-1F4D94B79EBC}" destId="{EB5D537B-3AFF-4C9A-A21F-F046BE2992B2}" srcOrd="1" destOrd="0" presId="urn:microsoft.com/office/officeart/2018/2/layout/IconLabelDescriptionList"/>
    <dgm:cxn modelId="{AB14AABB-2A22-4A5D-B254-BBA3EF66E0C0}" type="presParOf" srcId="{1B9CA749-E81B-40DD-958F-1F4D94B79EBC}" destId="{28C81085-DBA0-4FB2-B876-B1AB65C9318D}" srcOrd="2" destOrd="0" presId="urn:microsoft.com/office/officeart/2018/2/layout/IconLabelDescriptionList"/>
    <dgm:cxn modelId="{6C65DEF2-7869-4D1D-9C0D-1473E51F791C}" type="presParOf" srcId="{1B9CA749-E81B-40DD-958F-1F4D94B79EBC}" destId="{ADE7745F-6344-48AB-B9E9-0E7D8DDD9BB0}" srcOrd="3" destOrd="0" presId="urn:microsoft.com/office/officeart/2018/2/layout/IconLabelDescriptionList"/>
    <dgm:cxn modelId="{A20D3BA1-7FE3-402A-AAD9-DF923CF0BD74}" type="presParOf" srcId="{1B9CA749-E81B-40DD-958F-1F4D94B79EBC}" destId="{0D23645D-B2CC-411B-8393-6DA3AD505183}" srcOrd="4" destOrd="0" presId="urn:microsoft.com/office/officeart/2018/2/layout/IconLabelDescriptionList"/>
    <dgm:cxn modelId="{2FE0B963-5031-491F-B4CE-2D4E89682C89}" type="presParOf" srcId="{C5B8055A-8D1E-4129-865F-4AC7B4F2EF1B}" destId="{1D9FEDFA-9E9A-406B-B611-108343CDEF3E}" srcOrd="1" destOrd="0" presId="urn:microsoft.com/office/officeart/2018/2/layout/IconLabelDescriptionList"/>
    <dgm:cxn modelId="{630585E3-7659-406D-B2B2-BCE72C1B7B9F}" type="presParOf" srcId="{C5B8055A-8D1E-4129-865F-4AC7B4F2EF1B}" destId="{2CAF3DD3-1C3B-44A0-8F4B-7D5791391DE7}" srcOrd="2" destOrd="0" presId="urn:microsoft.com/office/officeart/2018/2/layout/IconLabelDescriptionList"/>
    <dgm:cxn modelId="{458BA83A-3EB3-469D-90F7-6562191ACD8C}" type="presParOf" srcId="{2CAF3DD3-1C3B-44A0-8F4B-7D5791391DE7}" destId="{E0A71D0D-1147-4AD9-BF98-7A2B819A481A}" srcOrd="0" destOrd="0" presId="urn:microsoft.com/office/officeart/2018/2/layout/IconLabelDescriptionList"/>
    <dgm:cxn modelId="{4BD9E6BC-42A6-4950-B26B-67FA6E66E12F}" type="presParOf" srcId="{2CAF3DD3-1C3B-44A0-8F4B-7D5791391DE7}" destId="{5CB3B91D-8269-480E-8B20-E976E2E6222C}" srcOrd="1" destOrd="0" presId="urn:microsoft.com/office/officeart/2018/2/layout/IconLabelDescriptionList"/>
    <dgm:cxn modelId="{A51D90F8-8C9A-4399-9068-D2D4A7D04762}" type="presParOf" srcId="{2CAF3DD3-1C3B-44A0-8F4B-7D5791391DE7}" destId="{A0D7BBE5-A63F-4058-961C-9E6174890194}" srcOrd="2" destOrd="0" presId="urn:microsoft.com/office/officeart/2018/2/layout/IconLabelDescriptionList"/>
    <dgm:cxn modelId="{68959F8D-D58D-409D-B6EA-1FFF5B2A938F}" type="presParOf" srcId="{2CAF3DD3-1C3B-44A0-8F4B-7D5791391DE7}" destId="{D5B27F32-6F49-4E53-96EF-D34753F6ED98}" srcOrd="3" destOrd="0" presId="urn:microsoft.com/office/officeart/2018/2/layout/IconLabelDescriptionList"/>
    <dgm:cxn modelId="{2ECC4B62-B098-447F-866D-58B143F41257}" type="presParOf" srcId="{2CAF3DD3-1C3B-44A0-8F4B-7D5791391DE7}" destId="{C8CE069F-6834-4453-931D-EF56664CCB05}" srcOrd="4" destOrd="0" presId="urn:microsoft.com/office/officeart/2018/2/layout/IconLabelDescriptionList"/>
    <dgm:cxn modelId="{5422F369-511A-4B97-A6D6-90B1D97A574F}" type="presParOf" srcId="{C5B8055A-8D1E-4129-865F-4AC7B4F2EF1B}" destId="{4E1A1E59-604A-470C-B394-2209C98072E9}" srcOrd="3" destOrd="0" presId="urn:microsoft.com/office/officeart/2018/2/layout/IconLabelDescriptionList"/>
    <dgm:cxn modelId="{47EB0062-86DA-4A56-86BF-8C75C1834FED}" type="presParOf" srcId="{C5B8055A-8D1E-4129-865F-4AC7B4F2EF1B}" destId="{FC953E96-37F4-4322-9E9A-5E219BFEE9CE}" srcOrd="4" destOrd="0" presId="urn:microsoft.com/office/officeart/2018/2/layout/IconLabelDescriptionList"/>
    <dgm:cxn modelId="{B016D3E4-905D-41CB-A26E-2B9F188C789F}" type="presParOf" srcId="{FC953E96-37F4-4322-9E9A-5E219BFEE9CE}" destId="{49A3E082-9BD3-4DEE-885B-C765430188D4}" srcOrd="0" destOrd="0" presId="urn:microsoft.com/office/officeart/2018/2/layout/IconLabelDescriptionList"/>
    <dgm:cxn modelId="{3A1EDF2C-A2CC-4B31-B991-1681E141E68B}" type="presParOf" srcId="{FC953E96-37F4-4322-9E9A-5E219BFEE9CE}" destId="{F9807FE4-BE30-4E38-9099-88214E748BAB}" srcOrd="1" destOrd="0" presId="urn:microsoft.com/office/officeart/2018/2/layout/IconLabelDescriptionList"/>
    <dgm:cxn modelId="{B2EC29AE-383E-4B87-88BB-6BA38F941FA6}" type="presParOf" srcId="{FC953E96-37F4-4322-9E9A-5E219BFEE9CE}" destId="{9DACF80A-6047-4F77-82F0-DE75CC5EFF5F}" srcOrd="2" destOrd="0" presId="urn:microsoft.com/office/officeart/2018/2/layout/IconLabelDescriptionList"/>
    <dgm:cxn modelId="{67D3AEB8-DCD1-4C44-87EA-4E8270CED606}" type="presParOf" srcId="{FC953E96-37F4-4322-9E9A-5E219BFEE9CE}" destId="{6C3DD74C-3890-4953-9553-1506917723EC}" srcOrd="3" destOrd="0" presId="urn:microsoft.com/office/officeart/2018/2/layout/IconLabelDescriptionList"/>
    <dgm:cxn modelId="{85D99531-D6C5-49C4-8D72-6DE2FB410313}" type="presParOf" srcId="{FC953E96-37F4-4322-9E9A-5E219BFEE9CE}" destId="{159BDCD2-AE5B-4371-86B2-68122BA6E7C6}" srcOrd="4" destOrd="0" presId="urn:microsoft.com/office/officeart/2018/2/layout/IconLabelDescriptionList"/>
    <dgm:cxn modelId="{3118B213-159E-4FBB-9F15-B09E32C3B861}" type="presParOf" srcId="{C5B8055A-8D1E-4129-865F-4AC7B4F2EF1B}" destId="{826B4900-C622-4E3D-A96E-3272BA86CE5D}" srcOrd="5" destOrd="0" presId="urn:microsoft.com/office/officeart/2018/2/layout/IconLabelDescriptionList"/>
    <dgm:cxn modelId="{C8398B72-78B7-4D9B-B3BD-9B167BD2DE15}" type="presParOf" srcId="{C5B8055A-8D1E-4129-865F-4AC7B4F2EF1B}" destId="{DC89076E-F570-4693-B7A9-BDD82D3B99AC}" srcOrd="6" destOrd="0" presId="urn:microsoft.com/office/officeart/2018/2/layout/IconLabelDescriptionList"/>
    <dgm:cxn modelId="{253992EF-E5A6-49AA-995D-E73224286EB1}" type="presParOf" srcId="{DC89076E-F570-4693-B7A9-BDD82D3B99AC}" destId="{3B207269-0317-449F-8AC6-00CA5D1F7E39}" srcOrd="0" destOrd="0" presId="urn:microsoft.com/office/officeart/2018/2/layout/IconLabelDescriptionList"/>
    <dgm:cxn modelId="{C9C1C4A7-BB7D-404D-BF7C-B40C8D1C1F0A}" type="presParOf" srcId="{DC89076E-F570-4693-B7A9-BDD82D3B99AC}" destId="{07BE33CB-56E5-44BC-BA02-F6869909F3F8}" srcOrd="1" destOrd="0" presId="urn:microsoft.com/office/officeart/2018/2/layout/IconLabelDescriptionList"/>
    <dgm:cxn modelId="{93781F83-B865-41CC-AAED-C6B86E2D69F0}" type="presParOf" srcId="{DC89076E-F570-4693-B7A9-BDD82D3B99AC}" destId="{CE577D33-BE0F-4CAE-8C3D-471ED170B882}" srcOrd="2" destOrd="0" presId="urn:microsoft.com/office/officeart/2018/2/layout/IconLabelDescriptionList"/>
    <dgm:cxn modelId="{50C15374-B3D9-450D-803B-500416171DE9}" type="presParOf" srcId="{DC89076E-F570-4693-B7A9-BDD82D3B99AC}" destId="{03667437-5B75-458C-A8F1-552DDCFC5C32}" srcOrd="3" destOrd="0" presId="urn:microsoft.com/office/officeart/2018/2/layout/IconLabelDescriptionList"/>
    <dgm:cxn modelId="{68C7BCB4-F9ED-4149-895B-0AC156CCD2B7}" type="presParOf" srcId="{DC89076E-F570-4693-B7A9-BDD82D3B99AC}" destId="{FA59FB08-46D5-4AA8-9058-F16912B4607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E58A63-88F4-4631-AC25-420EC284884F}">
      <dsp:nvSpPr>
        <dsp:cNvPr id="0" name=""/>
        <dsp:cNvSpPr/>
      </dsp:nvSpPr>
      <dsp:spPr>
        <a:xfrm>
          <a:off x="18341" y="0"/>
          <a:ext cx="810523" cy="6172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1085-DBA0-4FB2-B876-B1AB65C9318D}">
      <dsp:nvSpPr>
        <dsp:cNvPr id="0" name=""/>
        <dsp:cNvSpPr/>
      </dsp:nvSpPr>
      <dsp:spPr>
        <a:xfrm>
          <a:off x="18341" y="777587"/>
          <a:ext cx="2315782" cy="335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Monte Carlo Simulation </a:t>
          </a:r>
          <a:r>
            <a:rPr lang="en-US" sz="1400" kern="1200"/>
            <a:t>- </a:t>
          </a:r>
          <a:r>
            <a:rPr lang="en-US" sz="1400" b="1" i="1" kern="1200"/>
            <a:t>Most retail tools give you a "Target Price" based on a single line. MyQuant recognizes that the future is a "probability cloud," not a single point.</a:t>
          </a:r>
          <a:endParaRPr lang="en-US" sz="1400" kern="1200"/>
        </a:p>
      </dsp:txBody>
      <dsp:txXfrm>
        <a:off x="18341" y="777587"/>
        <a:ext cx="2315782" cy="3358703"/>
      </dsp:txXfrm>
    </dsp:sp>
    <dsp:sp modelId="{0D23645D-B2CC-411B-8393-6DA3AD505183}">
      <dsp:nvSpPr>
        <dsp:cNvPr id="0" name=""/>
        <dsp:cNvSpPr/>
      </dsp:nvSpPr>
      <dsp:spPr>
        <a:xfrm>
          <a:off x="23158" y="2531273"/>
          <a:ext cx="2315782" cy="691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1" kern="1200" dirty="0"/>
            <a:t>Geometric Brownian Motion Formula Integration - </a:t>
          </a:r>
          <a:r>
            <a:rPr lang="en-US" sz="1100" b="1" i="1" kern="1200" dirty="0"/>
            <a:t>Assuming a stocks return has two parts</a:t>
          </a:r>
          <a:endParaRPr lang="en-US" sz="1100" kern="1200" dirty="0"/>
        </a:p>
        <a:p>
          <a:pPr marL="57150" lvl="1" indent="-57150" algn="l" defTabSz="488950">
            <a:lnSpc>
              <a:spcPct val="90000"/>
            </a:lnSpc>
            <a:spcBef>
              <a:spcPct val="0"/>
            </a:spcBef>
            <a:spcAft>
              <a:spcPct val="15000"/>
            </a:spcAft>
            <a:buChar char="•"/>
          </a:pPr>
          <a:r>
            <a:rPr lang="en-US" sz="1100" b="1" kern="1200"/>
            <a:t>Drift: </a:t>
          </a:r>
          <a:r>
            <a:rPr lang="en-US" sz="1100" kern="1200"/>
            <a:t>Stead Average growth rate</a:t>
          </a:r>
        </a:p>
        <a:p>
          <a:pPr marL="57150" lvl="1" indent="-57150" algn="l" defTabSz="488950">
            <a:lnSpc>
              <a:spcPct val="90000"/>
            </a:lnSpc>
            <a:spcBef>
              <a:spcPct val="0"/>
            </a:spcBef>
            <a:spcAft>
              <a:spcPct val="15000"/>
            </a:spcAft>
            <a:buChar char="•"/>
          </a:pPr>
          <a:r>
            <a:rPr lang="en-US" sz="1100" b="1" kern="1200"/>
            <a:t>Shock: </a:t>
          </a:r>
          <a:r>
            <a:rPr lang="en-US" sz="1100" kern="1200"/>
            <a:t>Market Noise aka. Volatility</a:t>
          </a:r>
        </a:p>
      </dsp:txBody>
      <dsp:txXfrm>
        <a:off x="23158" y="2531273"/>
        <a:ext cx="2315782" cy="691732"/>
      </dsp:txXfrm>
    </dsp:sp>
    <dsp:sp modelId="{E0A71D0D-1147-4AD9-BF98-7A2B819A481A}">
      <dsp:nvSpPr>
        <dsp:cNvPr id="0" name=""/>
        <dsp:cNvSpPr/>
      </dsp:nvSpPr>
      <dsp:spPr>
        <a:xfrm>
          <a:off x="2739386" y="0"/>
          <a:ext cx="810523" cy="6172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D7BBE5-A63F-4058-961C-9E6174890194}">
      <dsp:nvSpPr>
        <dsp:cNvPr id="0" name=""/>
        <dsp:cNvSpPr/>
      </dsp:nvSpPr>
      <dsp:spPr>
        <a:xfrm>
          <a:off x="2739386" y="777587"/>
          <a:ext cx="2315782" cy="335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“By simulating 10,000 parallel "alternate universes" through a Monte Carlo engine, MyQuant moves beyond singular price targets to map every statistically probable outcome for a trade. This creates a high-fidelity frequency distribution at expiration, allowing us to mathematically calculate the "Probability of Profit" based on how many of those simulated paths exceed the breakeven threshold. This institutional approach replaces speculative guesswork with a concrete, data-driven edge”.</a:t>
          </a:r>
          <a:endParaRPr lang="en-US" sz="1400" kern="1200"/>
        </a:p>
      </dsp:txBody>
      <dsp:txXfrm>
        <a:off x="2739386" y="777587"/>
        <a:ext cx="2315782" cy="3358703"/>
      </dsp:txXfrm>
    </dsp:sp>
    <dsp:sp modelId="{C8CE069F-6834-4453-931D-EF56664CCB05}">
      <dsp:nvSpPr>
        <dsp:cNvPr id="0" name=""/>
        <dsp:cNvSpPr/>
      </dsp:nvSpPr>
      <dsp:spPr>
        <a:xfrm>
          <a:off x="2739386" y="4210884"/>
          <a:ext cx="2315782" cy="691732"/>
        </a:xfrm>
        <a:prstGeom prst="rect">
          <a:avLst/>
        </a:prstGeom>
        <a:noFill/>
        <a:ln>
          <a:noFill/>
        </a:ln>
        <a:effectLst/>
      </dsp:spPr>
      <dsp:style>
        <a:lnRef idx="0">
          <a:scrgbClr r="0" g="0" b="0"/>
        </a:lnRef>
        <a:fillRef idx="0">
          <a:scrgbClr r="0" g="0" b="0"/>
        </a:fillRef>
        <a:effectRef idx="0">
          <a:scrgbClr r="0" g="0" b="0"/>
        </a:effectRef>
        <a:fontRef idx="minor"/>
      </dsp:style>
    </dsp:sp>
    <dsp:sp modelId="{49A3E082-9BD3-4DEE-885B-C765430188D4}">
      <dsp:nvSpPr>
        <dsp:cNvPr id="0" name=""/>
        <dsp:cNvSpPr/>
      </dsp:nvSpPr>
      <dsp:spPr>
        <a:xfrm>
          <a:off x="5460430" y="0"/>
          <a:ext cx="810523" cy="6172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ACF80A-6047-4F77-82F0-DE75CC5EFF5F}">
      <dsp:nvSpPr>
        <dsp:cNvPr id="0" name=""/>
        <dsp:cNvSpPr/>
      </dsp:nvSpPr>
      <dsp:spPr>
        <a:xfrm>
          <a:off x="5460430" y="777587"/>
          <a:ext cx="2315782" cy="335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dirty="0"/>
            <a:t>Live Greeks </a:t>
          </a:r>
          <a:r>
            <a:rPr lang="en-US" sz="1400" kern="1200" dirty="0"/>
            <a:t>– </a:t>
          </a:r>
          <a:r>
            <a:rPr lang="en-US" sz="1400" b="1" i="1" kern="1200" dirty="0"/>
            <a:t>A model is only as good as its fuel. Static models fail because market conditions change by the second.</a:t>
          </a:r>
          <a:endParaRPr lang="en-US" sz="1400" kern="1200" dirty="0"/>
        </a:p>
      </dsp:txBody>
      <dsp:txXfrm>
        <a:off x="5460430" y="777587"/>
        <a:ext cx="2315782" cy="3358703"/>
      </dsp:txXfrm>
    </dsp:sp>
    <dsp:sp modelId="{159BDCD2-AE5B-4371-86B2-68122BA6E7C6}">
      <dsp:nvSpPr>
        <dsp:cNvPr id="0" name=""/>
        <dsp:cNvSpPr/>
      </dsp:nvSpPr>
      <dsp:spPr>
        <a:xfrm>
          <a:off x="5444614" y="1855139"/>
          <a:ext cx="2315782" cy="691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1" i="0" kern="1200" baseline="0"/>
            <a:t>Live Spot Price:</a:t>
          </a:r>
          <a:r>
            <a:rPr lang="en-US" sz="1100" b="0" i="0" kern="1200" baseline="0"/>
            <a:t> The simulation anchor. We pull the exact last-traded price so the "starting line" of our 10,000 paths is accurate to the moment.</a:t>
          </a:r>
          <a:endParaRPr lang="en-US" sz="1100" kern="1200"/>
        </a:p>
        <a:p>
          <a:pPr marL="0" lvl="0" indent="0" algn="l" defTabSz="488950">
            <a:lnSpc>
              <a:spcPct val="100000"/>
            </a:lnSpc>
            <a:spcBef>
              <a:spcPct val="0"/>
            </a:spcBef>
            <a:spcAft>
              <a:spcPct val="35000"/>
            </a:spcAft>
            <a:buNone/>
          </a:pPr>
          <a:r>
            <a:rPr lang="en-US" sz="1100" b="1" i="0" kern="1200" baseline="0" dirty="0"/>
            <a:t>Implied Volatility (</a:t>
          </a:r>
          <a:r>
            <a:rPr lang="el-GR" sz="1100" b="1" i="0" kern="1200" baseline="0" dirty="0"/>
            <a:t>σ</a:t>
          </a:r>
          <a:r>
            <a:rPr lang="en-US" sz="1100" b="1" i="0" kern="1200" baseline="0" dirty="0"/>
            <a:t>):</a:t>
          </a:r>
          <a:r>
            <a:rPr lang="en-US" sz="1100" b="0" i="0" kern="1200" baseline="0" dirty="0"/>
            <a:t> IV isn't calculated by one person; it is </a:t>
          </a:r>
          <a:r>
            <a:rPr lang="en-US" sz="1100" i="0" kern="1200" baseline="0" dirty="0"/>
            <a:t>dictated by the market</a:t>
          </a:r>
          <a:r>
            <a:rPr lang="en-US" sz="1100" b="0" i="0" kern="1200" baseline="0" dirty="0"/>
            <a:t>. It represents the collective </a:t>
          </a:r>
          <a:r>
            <a:rPr lang="en-US" sz="1100" kern="1200" dirty="0"/>
            <a:t>decisions </a:t>
          </a:r>
          <a:r>
            <a:rPr lang="en-US" sz="1100" b="0" i="0" kern="1200" baseline="0" dirty="0"/>
            <a:t>of every trader in the world.</a:t>
          </a:r>
          <a:endParaRPr lang="en-US" sz="1100" kern="1200" dirty="0"/>
        </a:p>
        <a:p>
          <a:pPr marL="0" lvl="0" indent="0" algn="l" defTabSz="488950">
            <a:lnSpc>
              <a:spcPct val="100000"/>
            </a:lnSpc>
            <a:spcBef>
              <a:spcPct val="0"/>
            </a:spcBef>
            <a:spcAft>
              <a:spcPct val="35000"/>
            </a:spcAft>
            <a:buNone/>
          </a:pPr>
          <a:r>
            <a:rPr lang="en-US" sz="1100" b="1" i="0" kern="1200" baseline="0" dirty="0"/>
            <a:t>The API Advantage:</a:t>
          </a:r>
          <a:r>
            <a:rPr lang="en-US" sz="1100" b="0" i="0" kern="1200" baseline="0" dirty="0"/>
            <a:t> By using the </a:t>
          </a:r>
          <a:r>
            <a:rPr lang="en-US" sz="1100" b="0" i="0" kern="1200" baseline="0" dirty="0" err="1"/>
            <a:t>yfinance</a:t>
          </a:r>
          <a:r>
            <a:rPr lang="en-US" sz="1100" b="0" i="0" kern="1200" baseline="0" dirty="0"/>
            <a:t> API, </a:t>
          </a:r>
          <a:r>
            <a:rPr lang="en-US" sz="1100" b="0" i="0" kern="1200" baseline="0" dirty="0" err="1"/>
            <a:t>MyQuant</a:t>
          </a:r>
          <a:r>
            <a:rPr lang="en-US" sz="1100" b="0" i="0" kern="1200" baseline="0" dirty="0"/>
            <a:t> captures </a:t>
          </a:r>
          <a:r>
            <a:rPr lang="en-US" sz="1100" i="0" kern="1200" baseline="0" dirty="0"/>
            <a:t>"IV Crush" </a:t>
          </a:r>
          <a:r>
            <a:rPr lang="en-US" sz="1100" b="0" i="0" kern="1200" baseline="0" dirty="0"/>
            <a:t>potential. If you are trading through an earnings report, the IV will be massive, and </a:t>
          </a:r>
          <a:r>
            <a:rPr lang="en-US" sz="1100" b="0" i="0" kern="1200" baseline="0" dirty="0" err="1"/>
            <a:t>MyQuant</a:t>
          </a:r>
          <a:r>
            <a:rPr lang="en-US" sz="1100" b="0" i="0" kern="1200" baseline="0" dirty="0"/>
            <a:t> will automatically show you that you need a much larger price move to break even, preventing "Volatility Trap“ in trades.</a:t>
          </a:r>
          <a:endParaRPr lang="en-US" sz="1100" kern="1200" dirty="0"/>
        </a:p>
      </dsp:txBody>
      <dsp:txXfrm>
        <a:off x="5444614" y="1855139"/>
        <a:ext cx="2315782" cy="691732"/>
      </dsp:txXfrm>
    </dsp:sp>
    <dsp:sp modelId="{3B207269-0317-449F-8AC6-00CA5D1F7E39}">
      <dsp:nvSpPr>
        <dsp:cNvPr id="0" name=""/>
        <dsp:cNvSpPr/>
      </dsp:nvSpPr>
      <dsp:spPr>
        <a:xfrm>
          <a:off x="8181475" y="0"/>
          <a:ext cx="810523" cy="6172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577D33-BE0F-4CAE-8C3D-471ED170B882}">
      <dsp:nvSpPr>
        <dsp:cNvPr id="0" name=""/>
        <dsp:cNvSpPr/>
      </dsp:nvSpPr>
      <dsp:spPr>
        <a:xfrm>
          <a:off x="8181475" y="777587"/>
          <a:ext cx="2315782" cy="335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b="1" kern="1200"/>
            <a:t>Lognormal Distributions </a:t>
          </a:r>
          <a:r>
            <a:rPr lang="en-US" sz="1400" kern="1200"/>
            <a:t>- </a:t>
          </a:r>
          <a:r>
            <a:rPr lang="en-US" sz="1400" b="1" i="1" kern="1200"/>
            <a:t>Why do we use a Lognormal distribution instead of a standard Bell Curve? Because of a fundamental rule in finance: A stock cannot go below $0.</a:t>
          </a:r>
          <a:endParaRPr lang="en-US" sz="1400" kern="1200"/>
        </a:p>
      </dsp:txBody>
      <dsp:txXfrm>
        <a:off x="8181475" y="777587"/>
        <a:ext cx="2315782" cy="3358703"/>
      </dsp:txXfrm>
    </dsp:sp>
    <dsp:sp modelId="{FA59FB08-46D5-4AA8-9058-F16912B46076}">
      <dsp:nvSpPr>
        <dsp:cNvPr id="0" name=""/>
        <dsp:cNvSpPr/>
      </dsp:nvSpPr>
      <dsp:spPr>
        <a:xfrm>
          <a:off x="8181475" y="2348393"/>
          <a:ext cx="2315782" cy="691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b="1" kern="1200" dirty="0"/>
            <a:t>The Standard Bell Curve: </a:t>
          </a:r>
          <a:r>
            <a:rPr lang="en-US" sz="1100" kern="1200" dirty="0"/>
            <a:t>Assumes the stock of a company can go to Negative 50 Dollars which would literally never happen, hindering your probability calculation to begin with</a:t>
          </a:r>
        </a:p>
        <a:p>
          <a:pPr marL="0" lvl="0" indent="0" algn="l" defTabSz="488950">
            <a:lnSpc>
              <a:spcPct val="100000"/>
            </a:lnSpc>
            <a:spcBef>
              <a:spcPct val="0"/>
            </a:spcBef>
            <a:spcAft>
              <a:spcPct val="35000"/>
            </a:spcAft>
            <a:buNone/>
          </a:pPr>
          <a:r>
            <a:rPr lang="en-US" sz="1100" b="1" kern="1200"/>
            <a:t>Lognormal Curve:</a:t>
          </a:r>
          <a:r>
            <a:rPr lang="en-US" sz="1100" kern="1200"/>
            <a:t> This model is superior as it assumes at hard floor of 0 dollars and implies unlimited upside to the right or positive direction of the Stock.</a:t>
          </a:r>
        </a:p>
        <a:p>
          <a:pPr marL="0" lvl="0" indent="0" algn="l" defTabSz="488950">
            <a:lnSpc>
              <a:spcPct val="100000"/>
            </a:lnSpc>
            <a:spcBef>
              <a:spcPct val="0"/>
            </a:spcBef>
            <a:spcAft>
              <a:spcPct val="35000"/>
            </a:spcAft>
            <a:buNone/>
          </a:pPr>
          <a:r>
            <a:rPr lang="en-US" sz="1100" b="1" kern="1200"/>
            <a:t>Institutional Importance: </a:t>
          </a:r>
          <a:r>
            <a:rPr lang="en-US" sz="1100" kern="1200"/>
            <a:t>Major Wall Street Firms like Goldman or Barclays model risk similarly. For example, if a stock can only lose 100% of its value, there is a possibility of 1000% upside.</a:t>
          </a:r>
        </a:p>
      </dsp:txBody>
      <dsp:txXfrm>
        <a:off x="8181475" y="2348393"/>
        <a:ext cx="2315782" cy="69173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1201-7AE4-EAF5-5BBA-E34DC7E59A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73399A-1563-7583-EF3F-34D376F0EA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08E55D-1737-9473-32FD-7D55EC2AE5A2}"/>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5" name="Footer Placeholder 4">
            <a:extLst>
              <a:ext uri="{FF2B5EF4-FFF2-40B4-BE49-F238E27FC236}">
                <a16:creationId xmlns:a16="http://schemas.microsoft.com/office/drawing/2014/main" id="{80F2C53C-A721-5786-6C04-36C9806C3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4FCF8-653A-5713-59E2-89D415B93BF9}"/>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286559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AC39-9A74-BE29-EFC2-6276405416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27C6EB-6B9C-F3A1-37DE-E4D93D69DE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B2681E-3E7D-C393-FEAC-6CB4BD4EBADA}"/>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5" name="Footer Placeholder 4">
            <a:extLst>
              <a:ext uri="{FF2B5EF4-FFF2-40B4-BE49-F238E27FC236}">
                <a16:creationId xmlns:a16="http://schemas.microsoft.com/office/drawing/2014/main" id="{2D2BD30F-D2FA-1A46-7770-8DD51004DD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03C9A-39ED-FB70-AB0E-B536D1162FAE}"/>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4093328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E61F-48F6-7DBC-4F5D-49CA6B0CDE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1C6565-C86A-61E3-3AE1-C0D5A730CB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B96E44-A5FF-7996-23AB-C50046780972}"/>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5" name="Footer Placeholder 4">
            <a:extLst>
              <a:ext uri="{FF2B5EF4-FFF2-40B4-BE49-F238E27FC236}">
                <a16:creationId xmlns:a16="http://schemas.microsoft.com/office/drawing/2014/main" id="{630524CC-83A6-2E47-0B81-25389F5BA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907D6-7F07-28D4-929E-275748280300}"/>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40531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1C1C-F2EA-E0EF-9720-AE3C0AE5C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79270F-821A-0BB6-10E5-EDD3961D61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3CB14A-F4D4-1690-8584-F15B27D3D6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8436F7-B0D9-BE6B-DFEB-04ACD4214CEC}"/>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6" name="Footer Placeholder 5">
            <a:extLst>
              <a:ext uri="{FF2B5EF4-FFF2-40B4-BE49-F238E27FC236}">
                <a16:creationId xmlns:a16="http://schemas.microsoft.com/office/drawing/2014/main" id="{88526F5D-5990-ADD4-8DAF-69210198B4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71AF6-1EBE-149F-8146-9E8E06F5A6D5}"/>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3240881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E880E-4395-A71E-E42D-689F680C3F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A3EC9F-4424-FA68-E5FB-A26371F29D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79269B-74A4-06C1-0911-F36C2DFC7F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B9EE03-0D4C-4965-C7FF-494C816E8D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935C29-004D-8A23-2FF5-2C58D85A84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594EA0-B21C-FBE4-B84C-2D388DD97D4C}"/>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8" name="Footer Placeholder 7">
            <a:extLst>
              <a:ext uri="{FF2B5EF4-FFF2-40B4-BE49-F238E27FC236}">
                <a16:creationId xmlns:a16="http://schemas.microsoft.com/office/drawing/2014/main" id="{5AED2DD9-EB74-2D6F-9D07-106B9EC4EF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BE5AC2-6539-4952-9DA5-E3FE1089A90C}"/>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62423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E5379-985C-CC2D-9EE1-495F85D7DC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A3F322-5089-2C45-F1D9-CDAE883706F5}"/>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4" name="Footer Placeholder 3">
            <a:extLst>
              <a:ext uri="{FF2B5EF4-FFF2-40B4-BE49-F238E27FC236}">
                <a16:creationId xmlns:a16="http://schemas.microsoft.com/office/drawing/2014/main" id="{B17C6F45-E29D-58CB-076B-F47E80FC20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D691CB-174C-4F58-82D4-4C1A312621A3}"/>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2089683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CF384-3D55-A711-9FCF-5E2B08532C30}"/>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3" name="Footer Placeholder 2">
            <a:extLst>
              <a:ext uri="{FF2B5EF4-FFF2-40B4-BE49-F238E27FC236}">
                <a16:creationId xmlns:a16="http://schemas.microsoft.com/office/drawing/2014/main" id="{54C8A463-589A-C6BC-073E-660CB5F834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971E67-4EB8-205E-C5CF-771A6ED388E8}"/>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2954224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790B6-9581-3193-349A-760E9F325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785B95-9AC9-B89C-F93C-0D8CD39C80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CBB39B-1E94-9F3E-630C-8F6FDFD2B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67A1A2-9CD2-ED14-D4A6-BA193CEEBEA8}"/>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6" name="Footer Placeholder 5">
            <a:extLst>
              <a:ext uri="{FF2B5EF4-FFF2-40B4-BE49-F238E27FC236}">
                <a16:creationId xmlns:a16="http://schemas.microsoft.com/office/drawing/2014/main" id="{1D2165A8-73E7-7816-D89B-3B3317A3B7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BC51D-F817-9FC8-E2F1-769AAA0EF302}"/>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4035842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F03B-FA11-D142-2705-202939662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491620-715C-31E1-4121-1AD33FB80E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3FFD10-4628-3798-2021-256678601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3994F-24BA-B846-A5E0-6C32BABB0214}"/>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6" name="Footer Placeholder 5">
            <a:extLst>
              <a:ext uri="{FF2B5EF4-FFF2-40B4-BE49-F238E27FC236}">
                <a16:creationId xmlns:a16="http://schemas.microsoft.com/office/drawing/2014/main" id="{E63A4D83-7CC1-7BFA-CC8E-B1EF700F6E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4FA571-17DD-D20D-07AB-43B9A1B08861}"/>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1541537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700A-391D-130F-E481-1C1081D0F3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B23FA5-6F4B-99F2-7831-4397F7F339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03CFE2-4267-A94A-CBE0-DFB24DE9988B}"/>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5" name="Footer Placeholder 4">
            <a:extLst>
              <a:ext uri="{FF2B5EF4-FFF2-40B4-BE49-F238E27FC236}">
                <a16:creationId xmlns:a16="http://schemas.microsoft.com/office/drawing/2014/main" id="{477B3765-6511-FC21-03F8-D449482D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CF5E7D-137D-3E7E-AC61-DDDD60F9B97B}"/>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266942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3C929-A85D-E6E4-75C5-66EC965DAE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CF8E87-0E7A-AF2C-17D6-41D8232EE5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9D5CA0-8A8D-F85F-490D-C8895ED959EB}"/>
              </a:ext>
            </a:extLst>
          </p:cNvPr>
          <p:cNvSpPr>
            <a:spLocks noGrp="1"/>
          </p:cNvSpPr>
          <p:nvPr>
            <p:ph type="dt" sz="half" idx="10"/>
          </p:nvPr>
        </p:nvSpPr>
        <p:spPr/>
        <p:txBody>
          <a:bodyPr/>
          <a:lstStyle/>
          <a:p>
            <a:fld id="{A1063420-E4F7-48A4-BB6E-BBBA4C15BC04}" type="datetimeFigureOut">
              <a:rPr lang="en-US" smtClean="0"/>
              <a:t>3/23/2026</a:t>
            </a:fld>
            <a:endParaRPr lang="en-US"/>
          </a:p>
        </p:txBody>
      </p:sp>
      <p:sp>
        <p:nvSpPr>
          <p:cNvPr id="5" name="Footer Placeholder 4">
            <a:extLst>
              <a:ext uri="{FF2B5EF4-FFF2-40B4-BE49-F238E27FC236}">
                <a16:creationId xmlns:a16="http://schemas.microsoft.com/office/drawing/2014/main" id="{4F5FD117-892E-1F1C-487A-96BC35754E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24E8EB-160B-5BFC-FABC-B1883FFBA625}"/>
              </a:ext>
            </a:extLst>
          </p:cNvPr>
          <p:cNvSpPr>
            <a:spLocks noGrp="1"/>
          </p:cNvSpPr>
          <p:nvPr>
            <p:ph type="sldNum" sz="quarter" idx="12"/>
          </p:nvPr>
        </p:nvSpPr>
        <p:spPr/>
        <p:txBody>
          <a:bodyPr/>
          <a:lstStyle/>
          <a:p>
            <a:fld id="{A0D87909-0EF4-4A00-BE1C-4D131BC69779}" type="slidenum">
              <a:rPr lang="en-US" smtClean="0"/>
              <a:t>‹#›</a:t>
            </a:fld>
            <a:endParaRPr lang="en-US"/>
          </a:p>
        </p:txBody>
      </p:sp>
    </p:spTree>
    <p:extLst>
      <p:ext uri="{BB962C8B-B14F-4D97-AF65-F5344CB8AC3E}">
        <p14:creationId xmlns:p14="http://schemas.microsoft.com/office/powerpoint/2010/main" val="1100475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A09C0C-CA88-237B-2472-3D52DF4597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09AB5B-9E81-FFF1-21F2-9562B3751B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7A39C3-4DF5-4892-9B15-E33A98C17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063420-E4F7-48A4-BB6E-BBBA4C15BC04}" type="datetimeFigureOut">
              <a:rPr lang="en-US" smtClean="0"/>
              <a:t>3/23/2026</a:t>
            </a:fld>
            <a:endParaRPr lang="en-US"/>
          </a:p>
        </p:txBody>
      </p:sp>
      <p:sp>
        <p:nvSpPr>
          <p:cNvPr id="5" name="Footer Placeholder 4">
            <a:extLst>
              <a:ext uri="{FF2B5EF4-FFF2-40B4-BE49-F238E27FC236}">
                <a16:creationId xmlns:a16="http://schemas.microsoft.com/office/drawing/2014/main" id="{FC83A7EE-CFC6-68AF-A33B-1084363BFF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4D8093-15DC-A434-4EB0-5252420E45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D87909-0EF4-4A00-BE1C-4D131BC69779}" type="slidenum">
              <a:rPr lang="en-US" smtClean="0"/>
              <a:t>‹#›</a:t>
            </a:fld>
            <a:endParaRPr lang="en-US"/>
          </a:p>
        </p:txBody>
      </p:sp>
    </p:spTree>
    <p:extLst>
      <p:ext uri="{BB962C8B-B14F-4D97-AF65-F5344CB8AC3E}">
        <p14:creationId xmlns:p14="http://schemas.microsoft.com/office/powerpoint/2010/main" val="1665114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C27D7A02-907B-496F-BA7E-AA3780733C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88D065B-39DA-4077-B9CF-E489CE4C0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ADDF05-6379-C10F-B761-47146B621CA4}"/>
              </a:ext>
            </a:extLst>
          </p:cNvPr>
          <p:cNvSpPr>
            <a:spLocks noGrp="1"/>
          </p:cNvSpPr>
          <p:nvPr>
            <p:ph type="ctrTitle"/>
          </p:nvPr>
        </p:nvSpPr>
        <p:spPr>
          <a:xfrm>
            <a:off x="2302092" y="1624334"/>
            <a:ext cx="7587816" cy="1804666"/>
          </a:xfrm>
        </p:spPr>
        <p:txBody>
          <a:bodyPr anchor="b">
            <a:normAutofit/>
          </a:bodyPr>
          <a:lstStyle/>
          <a:p>
            <a:r>
              <a:rPr lang="en-US" dirty="0" err="1">
                <a:solidFill>
                  <a:schemeClr val="bg1">
                    <a:alpha val="60000"/>
                  </a:schemeClr>
                </a:solidFill>
                <a:latin typeface="Times New Roman" panose="02020603050405020304" pitchFamily="18" charset="0"/>
                <a:cs typeface="Times New Roman" panose="02020603050405020304" pitchFamily="18" charset="0"/>
              </a:rPr>
              <a:t>MyQuant</a:t>
            </a:r>
            <a:endParaRPr lang="en-US" dirty="0">
              <a:solidFill>
                <a:schemeClr val="bg1">
                  <a:alpha val="6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6C71CAD-0C04-F503-A553-B522E7CA3C53}"/>
              </a:ext>
            </a:extLst>
          </p:cNvPr>
          <p:cNvSpPr>
            <a:spLocks noGrp="1"/>
          </p:cNvSpPr>
          <p:nvPr>
            <p:ph type="subTitle" idx="1"/>
          </p:nvPr>
        </p:nvSpPr>
        <p:spPr>
          <a:xfrm>
            <a:off x="3048000" y="3884876"/>
            <a:ext cx="6096000" cy="1079006"/>
          </a:xfrm>
        </p:spPr>
        <p:txBody>
          <a:bodyPr anchor="t">
            <a:normAutofit/>
          </a:bodyPr>
          <a:lstStyle/>
          <a:p>
            <a:r>
              <a:rPr lang="en-US" sz="1400" i="1" dirty="0">
                <a:solidFill>
                  <a:schemeClr val="bg1"/>
                </a:solidFill>
              </a:rPr>
              <a:t>Real-Time Data reconstructed into Stock Option Probability Modeling</a:t>
            </a:r>
          </a:p>
          <a:p>
            <a:r>
              <a:rPr lang="en-US" sz="1400" i="1" dirty="0">
                <a:solidFill>
                  <a:schemeClr val="bg1"/>
                </a:solidFill>
              </a:rPr>
              <a:t>Derivatives Data meets Python Integrations</a:t>
            </a:r>
          </a:p>
          <a:p>
            <a:r>
              <a:rPr lang="en-US" sz="1400" b="1" i="1" dirty="0">
                <a:solidFill>
                  <a:schemeClr val="bg1"/>
                </a:solidFill>
              </a:rPr>
              <a:t>Hari Verma</a:t>
            </a:r>
          </a:p>
        </p:txBody>
      </p:sp>
    </p:spTree>
    <p:extLst>
      <p:ext uri="{BB962C8B-B14F-4D97-AF65-F5344CB8AC3E}">
        <p14:creationId xmlns:p14="http://schemas.microsoft.com/office/powerpoint/2010/main" val="3733241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033314-802D-E4D6-F443-69111343167E}"/>
              </a:ext>
            </a:extLst>
          </p:cNvPr>
          <p:cNvSpPr>
            <a:spLocks noGrp="1"/>
          </p:cNvSpPr>
          <p:nvPr>
            <p:ph type="title"/>
          </p:nvPr>
        </p:nvSpPr>
        <p:spPr>
          <a:xfrm>
            <a:off x="1993210" y="816335"/>
            <a:ext cx="5801917" cy="1198533"/>
          </a:xfrm>
        </p:spPr>
        <p:txBody>
          <a:bodyPr anchor="b">
            <a:normAutofit/>
          </a:bodyPr>
          <a:lstStyle/>
          <a:p>
            <a:r>
              <a:rPr lang="en-US" sz="4000" dirty="0"/>
              <a:t>What is </a:t>
            </a:r>
            <a:r>
              <a:rPr lang="en-US" sz="4000" dirty="0" err="1"/>
              <a:t>MyQuant</a:t>
            </a:r>
            <a:endParaRPr lang="en-US" sz="4000" dirty="0"/>
          </a:p>
        </p:txBody>
      </p:sp>
      <p:pic>
        <p:nvPicPr>
          <p:cNvPr id="7" name="Graphic 6" descr="Financial">
            <a:extLst>
              <a:ext uri="{FF2B5EF4-FFF2-40B4-BE49-F238E27FC236}">
                <a16:creationId xmlns:a16="http://schemas.microsoft.com/office/drawing/2014/main" id="{4127A161-9149-A327-86F8-678545AC65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846" y="816337"/>
            <a:ext cx="1198532" cy="1198532"/>
          </a:xfrm>
          <a:prstGeom prst="rect">
            <a:avLst/>
          </a:prstGeom>
        </p:spPr>
      </p:pic>
      <p:sp>
        <p:nvSpPr>
          <p:cNvPr id="3" name="Content Placeholder 2">
            <a:extLst>
              <a:ext uri="{FF2B5EF4-FFF2-40B4-BE49-F238E27FC236}">
                <a16:creationId xmlns:a16="http://schemas.microsoft.com/office/drawing/2014/main" id="{00229EC4-464A-F8A1-EB30-FF94C7F2848F}"/>
              </a:ext>
            </a:extLst>
          </p:cNvPr>
          <p:cNvSpPr>
            <a:spLocks noGrp="1"/>
          </p:cNvSpPr>
          <p:nvPr>
            <p:ph idx="1"/>
          </p:nvPr>
        </p:nvSpPr>
        <p:spPr>
          <a:xfrm>
            <a:off x="612682" y="2014868"/>
            <a:ext cx="5801917" cy="4304117"/>
          </a:xfrm>
        </p:spPr>
        <p:txBody>
          <a:bodyPr>
            <a:noAutofit/>
          </a:bodyPr>
          <a:lstStyle/>
          <a:p>
            <a:pPr marL="0" indent="0">
              <a:buNone/>
            </a:pPr>
            <a:r>
              <a:rPr lang="en-US" sz="2000" b="1" i="1" dirty="0"/>
              <a:t>“An advanced analytical tool designed to process live options data and generate a comprehensive "probability cloud" for any given trade thesis.”</a:t>
            </a:r>
          </a:p>
          <a:p>
            <a:pPr marL="0" indent="0">
              <a:buNone/>
            </a:pPr>
            <a:endParaRPr lang="en-US" sz="2000" dirty="0"/>
          </a:p>
          <a:p>
            <a:pPr marL="0" lvl="0" indent="0" eaLnBrk="0" fontAlgn="base" hangingPunct="0">
              <a:lnSpc>
                <a:spcPct val="100000"/>
              </a:lnSpc>
              <a:spcBef>
                <a:spcPct val="0"/>
              </a:spcBef>
              <a:spcAft>
                <a:spcPct val="0"/>
              </a:spcAft>
              <a:buNone/>
            </a:pPr>
            <a:r>
              <a:rPr lang="en-US" altLang="en-US" sz="2000" b="1" dirty="0">
                <a:latin typeface="Google Sans Text"/>
              </a:rPr>
              <a:t>The Thesis: Democratizing Quantitative Intelligence</a:t>
            </a:r>
          </a:p>
          <a:p>
            <a:pPr marL="0" lvl="0" indent="0" eaLnBrk="0" fontAlgn="base" hangingPunct="0">
              <a:lnSpc>
                <a:spcPct val="100000"/>
              </a:lnSpc>
              <a:spcBef>
                <a:spcPct val="0"/>
              </a:spcBef>
              <a:spcAft>
                <a:spcPct val="0"/>
              </a:spcAft>
              <a:buNone/>
            </a:pPr>
            <a:r>
              <a:rPr lang="en-US" altLang="en-US" sz="2000" dirty="0">
                <a:latin typeface="Google Sans Text"/>
              </a:rPr>
              <a:t> </a:t>
            </a:r>
            <a:endParaRPr lang="en-US" altLang="en-US" sz="2000" dirty="0"/>
          </a:p>
          <a:p>
            <a:pPr marL="457200" lvl="1" indent="0" eaLnBrk="0" fontAlgn="base" hangingPunct="0">
              <a:lnSpc>
                <a:spcPct val="100000"/>
              </a:lnSpc>
              <a:spcBef>
                <a:spcPct val="0"/>
              </a:spcBef>
              <a:spcAft>
                <a:spcPct val="0"/>
              </a:spcAft>
              <a:buFontTx/>
              <a:buChar char="•"/>
            </a:pPr>
            <a:r>
              <a:rPr lang="en-US" altLang="en-US" sz="1600" b="1" dirty="0">
                <a:latin typeface="Google Sans Text"/>
              </a:rPr>
              <a:t>Institutional Standard</a:t>
            </a:r>
            <a:r>
              <a:rPr lang="en-US" altLang="en-US" sz="1600" dirty="0">
                <a:latin typeface="Google Sans Text"/>
              </a:rPr>
              <a:t>: Modern hedge funds rely on complex stochastic modeling to validate every investment thesis. </a:t>
            </a:r>
          </a:p>
          <a:p>
            <a:pPr marL="457200" lvl="1" indent="0" eaLnBrk="0" fontAlgn="base" hangingPunct="0">
              <a:lnSpc>
                <a:spcPct val="100000"/>
              </a:lnSpc>
              <a:spcBef>
                <a:spcPct val="0"/>
              </a:spcBef>
              <a:spcAft>
                <a:spcPct val="0"/>
              </a:spcAft>
              <a:buFontTx/>
              <a:buChar char="•"/>
            </a:pPr>
            <a:r>
              <a:rPr lang="en-US" altLang="en-US" sz="1600" b="1" dirty="0">
                <a:latin typeface="Google Sans Text"/>
              </a:rPr>
              <a:t>Engineering Accessibility</a:t>
            </a:r>
            <a:r>
              <a:rPr lang="en-US" altLang="en-US" sz="1600" dirty="0">
                <a:latin typeface="Google Sans Text"/>
              </a:rPr>
              <a:t>: Developed a proprietary quantitative algorithm traditionally reserved for institutional desks to be completely optimized for the retail market. </a:t>
            </a:r>
          </a:p>
          <a:p>
            <a:pPr marL="457200" lvl="1" indent="0" eaLnBrk="0" fontAlgn="base" hangingPunct="0">
              <a:lnSpc>
                <a:spcPct val="100000"/>
              </a:lnSpc>
              <a:spcBef>
                <a:spcPct val="0"/>
              </a:spcBef>
              <a:spcAft>
                <a:spcPct val="0"/>
              </a:spcAft>
              <a:buFontTx/>
              <a:buChar char="•"/>
            </a:pPr>
            <a:r>
              <a:rPr lang="en-US" altLang="en-US" sz="1600" b="1" dirty="0">
                <a:latin typeface="Google Sans Text"/>
              </a:rPr>
              <a:t>Mathematical Validation</a:t>
            </a:r>
            <a:r>
              <a:rPr lang="en-US" altLang="en-US" sz="1600" dirty="0">
                <a:latin typeface="Google Sans Text"/>
              </a:rPr>
              <a:t>: </a:t>
            </a:r>
            <a:r>
              <a:rPr lang="en-US" altLang="en-US" sz="1600" dirty="0" err="1">
                <a:latin typeface="Google Sans Text"/>
              </a:rPr>
              <a:t>MyQuant</a:t>
            </a:r>
            <a:r>
              <a:rPr lang="en-US" altLang="en-US" sz="1600" dirty="0">
                <a:latin typeface="Google Sans Text"/>
              </a:rPr>
              <a:t> serves as a rigorous filter, transforming subjective sentiment into objective, data-backed trade confirmations.</a:t>
            </a:r>
          </a:p>
        </p:txBody>
      </p:sp>
      <p:pic>
        <p:nvPicPr>
          <p:cNvPr id="9" name="Graphic 8" descr="Financial">
            <a:extLst>
              <a:ext uri="{FF2B5EF4-FFF2-40B4-BE49-F238E27FC236}">
                <a16:creationId xmlns:a16="http://schemas.microsoft.com/office/drawing/2014/main" id="{867C413D-DEB9-4392-91B1-8D92AD266A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740554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33850-3B58-0FFF-4328-CD9FD2C8A805}"/>
              </a:ext>
            </a:extLst>
          </p:cNvPr>
          <p:cNvSpPr>
            <a:spLocks noGrp="1"/>
          </p:cNvSpPr>
          <p:nvPr>
            <p:ph type="title"/>
          </p:nvPr>
        </p:nvSpPr>
        <p:spPr>
          <a:xfrm>
            <a:off x="838200" y="182245"/>
            <a:ext cx="10515600" cy="1325563"/>
          </a:xfrm>
        </p:spPr>
        <p:txBody>
          <a:bodyPr/>
          <a:lstStyle/>
          <a:p>
            <a:r>
              <a:rPr lang="en-US"/>
              <a:t>Model Strategy</a:t>
            </a:r>
            <a:endParaRPr lang="en-US" dirty="0"/>
          </a:p>
        </p:txBody>
      </p:sp>
      <p:graphicFrame>
        <p:nvGraphicFramePr>
          <p:cNvPr id="5" name="Content Placeholder 2">
            <a:extLst>
              <a:ext uri="{FF2B5EF4-FFF2-40B4-BE49-F238E27FC236}">
                <a16:creationId xmlns:a16="http://schemas.microsoft.com/office/drawing/2014/main" id="{2E9B68F9-B839-5F90-A6BA-4358D8E3EDAA}"/>
              </a:ext>
            </a:extLst>
          </p:cNvPr>
          <p:cNvGraphicFramePr>
            <a:graphicFrameLocks noGrp="1"/>
          </p:cNvGraphicFramePr>
          <p:nvPr>
            <p:ph idx="1"/>
            <p:extLst>
              <p:ext uri="{D42A27DB-BD31-4B8C-83A1-F6EECF244321}">
                <p14:modId xmlns:p14="http://schemas.microsoft.com/office/powerpoint/2010/main" val="1507048375"/>
              </p:ext>
            </p:extLst>
          </p:nvPr>
        </p:nvGraphicFramePr>
        <p:xfrm>
          <a:off x="901235" y="1373053"/>
          <a:ext cx="10515600" cy="49026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5037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9F8C50-FCEB-1843-7872-C9E066D0A554}"/>
              </a:ext>
            </a:extLst>
          </p:cNvPr>
          <p:cNvSpPr>
            <a:spLocks noGrp="1"/>
          </p:cNvSpPr>
          <p:nvPr>
            <p:ph type="title"/>
          </p:nvPr>
        </p:nvSpPr>
        <p:spPr>
          <a:xfrm>
            <a:off x="1156851" y="637762"/>
            <a:ext cx="9888496" cy="900131"/>
          </a:xfrm>
        </p:spPr>
        <p:txBody>
          <a:bodyPr anchor="t">
            <a:normAutofit/>
          </a:bodyPr>
          <a:lstStyle/>
          <a:p>
            <a:r>
              <a:rPr lang="en-US" sz="2800">
                <a:solidFill>
                  <a:schemeClr val="bg1"/>
                </a:solidFill>
              </a:rPr>
              <a:t>Risk Mitigation &amp; Expected Value</a:t>
            </a:r>
            <a:br>
              <a:rPr lang="en-US" sz="2800">
                <a:solidFill>
                  <a:schemeClr val="bg1"/>
                </a:solidFill>
              </a:rPr>
            </a:br>
            <a:r>
              <a:rPr lang="en-US" sz="2800" i="1">
                <a:solidFill>
                  <a:schemeClr val="bg1"/>
                </a:solidFill>
              </a:rPr>
              <a:t>The Mathematics behind Long-Term Probability</a:t>
            </a:r>
            <a:endParaRPr lang="en-US" sz="28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8BCE19-7530-33C9-9C0B-C47D2CDC199A}"/>
                  </a:ext>
                </a:extLst>
              </p:cNvPr>
              <p:cNvSpPr>
                <a:spLocks noGrp="1"/>
              </p:cNvSpPr>
              <p:nvPr>
                <p:ph idx="1"/>
              </p:nvPr>
            </p:nvSpPr>
            <p:spPr>
              <a:xfrm>
                <a:off x="1155548" y="2217343"/>
                <a:ext cx="9880893" cy="395961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1700" b="0" i="1">
                          <a:latin typeface="Cambria Math" panose="02040503050406030204" pitchFamily="18" charset="0"/>
                        </a:rPr>
                        <m:t>𝐸𝑉</m:t>
                      </m:r>
                      <m:r>
                        <a:rPr lang="en-US" sz="1700" b="0" i="1">
                          <a:latin typeface="Cambria Math" panose="02040503050406030204" pitchFamily="18" charset="0"/>
                        </a:rPr>
                        <m:t>=</m:t>
                      </m:r>
                      <m:d>
                        <m:dPr>
                          <m:ctrlPr>
                            <a:rPr lang="en-US" sz="1700" b="0" i="1">
                              <a:latin typeface="Cambria Math" panose="02040503050406030204" pitchFamily="18" charset="0"/>
                            </a:rPr>
                          </m:ctrlPr>
                        </m:dPr>
                        <m:e>
                          <m:sSub>
                            <m:sSubPr>
                              <m:ctrlPr>
                                <a:rPr lang="en-US" sz="1700" b="0" i="1">
                                  <a:latin typeface="Cambria Math" panose="02040503050406030204" pitchFamily="18" charset="0"/>
                                </a:rPr>
                              </m:ctrlPr>
                            </m:sSubPr>
                            <m:e>
                              <m:r>
                                <a:rPr lang="en-US" sz="1700" b="0" i="1">
                                  <a:latin typeface="Cambria Math" panose="02040503050406030204" pitchFamily="18" charset="0"/>
                                </a:rPr>
                                <m:t>𝑃</m:t>
                              </m:r>
                            </m:e>
                            <m:sub>
                              <m:r>
                                <a:rPr lang="en-US" sz="1700" b="0" i="1">
                                  <a:latin typeface="Cambria Math" panose="02040503050406030204" pitchFamily="18" charset="0"/>
                                </a:rPr>
                                <m:t>𝑤𝑖𝑛</m:t>
                              </m:r>
                            </m:sub>
                          </m:sSub>
                          <m:r>
                            <a:rPr lang="en-US" sz="1700" i="1">
                              <a:latin typeface="Cambria Math" panose="02040503050406030204" pitchFamily="18" charset="0"/>
                              <a:ea typeface="Cambria Math" panose="02040503050406030204" pitchFamily="18" charset="0"/>
                            </a:rPr>
                            <m:t>×</m:t>
                          </m:r>
                          <m:r>
                            <a:rPr lang="en-US" sz="1700" b="0" i="1">
                              <a:latin typeface="Cambria Math" panose="02040503050406030204" pitchFamily="18" charset="0"/>
                              <a:ea typeface="Cambria Math" panose="02040503050406030204" pitchFamily="18" charset="0"/>
                            </a:rPr>
                            <m:t>𝑃𝑟𝑜𝑓𝑖𝑡</m:t>
                          </m:r>
                        </m:e>
                      </m:d>
                      <m:r>
                        <a:rPr lang="en-US" sz="1700" b="0" i="1">
                          <a:latin typeface="Cambria Math" panose="02040503050406030204" pitchFamily="18" charset="0"/>
                          <a:ea typeface="Cambria Math" panose="02040503050406030204" pitchFamily="18" charset="0"/>
                        </a:rPr>
                        <m:t> −(</m:t>
                      </m:r>
                      <m:sSub>
                        <m:sSubPr>
                          <m:ctrlPr>
                            <a:rPr lang="en-US" sz="1700" b="0" i="1">
                              <a:latin typeface="Cambria Math" panose="02040503050406030204" pitchFamily="18" charset="0"/>
                              <a:ea typeface="Cambria Math" panose="02040503050406030204" pitchFamily="18" charset="0"/>
                            </a:rPr>
                          </m:ctrlPr>
                        </m:sSubPr>
                        <m:e>
                          <m:r>
                            <a:rPr lang="en-US" sz="1700" b="0" i="1">
                              <a:latin typeface="Cambria Math" panose="02040503050406030204" pitchFamily="18" charset="0"/>
                              <a:ea typeface="Cambria Math" panose="02040503050406030204" pitchFamily="18" charset="0"/>
                            </a:rPr>
                            <m:t>𝑃</m:t>
                          </m:r>
                        </m:e>
                        <m:sub>
                          <m:r>
                            <a:rPr lang="en-US" sz="1700" b="0" i="1">
                              <a:latin typeface="Cambria Math" panose="02040503050406030204" pitchFamily="18" charset="0"/>
                              <a:ea typeface="Cambria Math" panose="02040503050406030204" pitchFamily="18" charset="0"/>
                            </a:rPr>
                            <m:t>𝑙𝑜𝑠𝑠</m:t>
                          </m:r>
                        </m:sub>
                      </m:sSub>
                      <m:r>
                        <a:rPr lang="en-US" sz="1700" b="0" i="1">
                          <a:latin typeface="Cambria Math" panose="02040503050406030204" pitchFamily="18" charset="0"/>
                          <a:ea typeface="Cambria Math" panose="02040503050406030204" pitchFamily="18" charset="0"/>
                        </a:rPr>
                        <m:t>×</m:t>
                      </m:r>
                      <m:r>
                        <a:rPr lang="en-US" sz="1700" b="0" i="1">
                          <a:latin typeface="Cambria Math" panose="02040503050406030204" pitchFamily="18" charset="0"/>
                          <a:ea typeface="Cambria Math" panose="02040503050406030204" pitchFamily="18" charset="0"/>
                        </a:rPr>
                        <m:t>𝑅𝑖𝑠𝑘</m:t>
                      </m:r>
                      <m:r>
                        <a:rPr lang="en-US" sz="1700" b="0" i="1">
                          <a:latin typeface="Cambria Math" panose="02040503050406030204" pitchFamily="18" charset="0"/>
                          <a:ea typeface="Cambria Math" panose="02040503050406030204" pitchFamily="18" charset="0"/>
                        </a:rPr>
                        <m:t> </m:t>
                      </m:r>
                      <m:r>
                        <a:rPr lang="en-US" sz="1700" b="0" i="1">
                          <a:latin typeface="Cambria Math" panose="02040503050406030204" pitchFamily="18" charset="0"/>
                          <a:ea typeface="Cambria Math" panose="02040503050406030204" pitchFamily="18" charset="0"/>
                        </a:rPr>
                        <m:t>𝑆𝑖𝑧𝑒</m:t>
                      </m:r>
                      <m:r>
                        <a:rPr lang="en-US" sz="1700" b="0" i="1">
                          <a:latin typeface="Cambria Math" panose="02040503050406030204" pitchFamily="18" charset="0"/>
                          <a:ea typeface="Cambria Math" panose="02040503050406030204" pitchFamily="18" charset="0"/>
                        </a:rPr>
                        <m:t> ×</m:t>
                      </m:r>
                      <m:r>
                        <a:rPr lang="en-US" sz="1700" b="0" i="1">
                          <a:latin typeface="Cambria Math" panose="02040503050406030204" pitchFamily="18" charset="0"/>
                          <a:ea typeface="Cambria Math" panose="02040503050406030204" pitchFamily="18" charset="0"/>
                        </a:rPr>
                        <m:t>𝑆𝑡𝑜𝑝</m:t>
                      </m:r>
                      <m:r>
                        <a:rPr lang="en-US" sz="1700" b="0" i="1">
                          <a:latin typeface="Cambria Math" panose="02040503050406030204" pitchFamily="18" charset="0"/>
                          <a:ea typeface="Cambria Math" panose="02040503050406030204" pitchFamily="18" charset="0"/>
                        </a:rPr>
                        <m:t> </m:t>
                      </m:r>
                      <m:r>
                        <a:rPr lang="en-US" sz="1700" b="0" i="1">
                          <a:latin typeface="Cambria Math" panose="02040503050406030204" pitchFamily="18" charset="0"/>
                          <a:ea typeface="Cambria Math" panose="02040503050406030204" pitchFamily="18" charset="0"/>
                        </a:rPr>
                        <m:t>𝐿𝑜𝑠𝑠</m:t>
                      </m:r>
                      <m:r>
                        <a:rPr lang="en-US" sz="1700" b="0" i="1">
                          <a:latin typeface="Cambria Math" panose="02040503050406030204" pitchFamily="18" charset="0"/>
                          <a:ea typeface="Cambria Math" panose="02040503050406030204" pitchFamily="18" charset="0"/>
                        </a:rPr>
                        <m:t>)</m:t>
                      </m:r>
                    </m:oMath>
                  </m:oMathPara>
                </a14:m>
                <a:endParaRPr lang="en-US" sz="1700"/>
              </a:p>
              <a:p>
                <a:pPr marL="0" indent="0">
                  <a:buNone/>
                </a:pPr>
                <a:r>
                  <a:rPr lang="en-US" sz="1700" b="1" i="1"/>
                  <a:t>EV (Expected Value) </a:t>
                </a:r>
                <a:r>
                  <a:rPr lang="en-US" sz="1700" i="1"/>
                  <a:t>– </a:t>
                </a:r>
                <a:r>
                  <a:rPr lang="en-US" sz="1700" b="1" i="1"/>
                  <a:t>Average expected to make per trade based on an unlimited amount of trades placed</a:t>
                </a:r>
              </a:p>
              <a:p>
                <a:pPr marL="0" indent="0">
                  <a:buNone/>
                </a:pPr>
                <a14:m>
                  <m:oMath xmlns:m="http://schemas.openxmlformats.org/officeDocument/2006/math">
                    <m:sSub>
                      <m:sSubPr>
                        <m:ctrlPr>
                          <a:rPr lang="en-US" sz="1700" b="1" i="1">
                            <a:latin typeface="Cambria Math" panose="02040503050406030204" pitchFamily="18" charset="0"/>
                          </a:rPr>
                        </m:ctrlPr>
                      </m:sSubPr>
                      <m:e>
                        <m:r>
                          <a:rPr lang="en-US" sz="1700" b="1" i="1">
                            <a:latin typeface="Cambria Math" panose="02040503050406030204" pitchFamily="18" charset="0"/>
                          </a:rPr>
                          <m:t>𝑷</m:t>
                        </m:r>
                      </m:e>
                      <m:sub>
                        <m:r>
                          <a:rPr lang="en-US" sz="1700" b="1" i="1">
                            <a:latin typeface="Cambria Math" panose="02040503050406030204" pitchFamily="18" charset="0"/>
                          </a:rPr>
                          <m:t>𝒘𝒊𝒏</m:t>
                        </m:r>
                      </m:sub>
                    </m:sSub>
                  </m:oMath>
                </a14:m>
                <a:r>
                  <a:rPr lang="en-US" sz="1700" b="1" i="1"/>
                  <a:t>- Probability of the stock price reaching the Break Even or the Target Price (Depending on user selection)</a:t>
                </a:r>
              </a:p>
              <a:p>
                <a:pPr marL="0" indent="0">
                  <a:buNone/>
                </a:pPr>
                <a:r>
                  <a:rPr lang="en-US" sz="1700" b="1" i="1"/>
                  <a:t>Profit – Expected Profit</a:t>
                </a:r>
              </a:p>
              <a:p>
                <a:pPr marL="0" indent="0">
                  <a:buNone/>
                </a:pPr>
                <a14:m>
                  <m:oMath xmlns:m="http://schemas.openxmlformats.org/officeDocument/2006/math">
                    <m:sSub>
                      <m:sSubPr>
                        <m:ctrlPr>
                          <a:rPr lang="en-US" sz="1700" b="1" i="1">
                            <a:latin typeface="Cambria Math" panose="02040503050406030204" pitchFamily="18" charset="0"/>
                          </a:rPr>
                        </m:ctrlPr>
                      </m:sSubPr>
                      <m:e>
                        <m:r>
                          <a:rPr lang="en-US" sz="1700" b="1" i="1">
                            <a:latin typeface="Cambria Math" panose="02040503050406030204" pitchFamily="18" charset="0"/>
                          </a:rPr>
                          <m:t>𝑷</m:t>
                        </m:r>
                      </m:e>
                      <m:sub>
                        <m:r>
                          <a:rPr lang="en-US" sz="1700" b="1" i="1">
                            <a:latin typeface="Cambria Math" panose="02040503050406030204" pitchFamily="18" charset="0"/>
                          </a:rPr>
                          <m:t>𝑳𝒐𝒔𝒔</m:t>
                        </m:r>
                      </m:sub>
                    </m:sSub>
                    <m:r>
                      <a:rPr lang="en-US" sz="1700" b="1" i="1">
                        <a:latin typeface="Cambria Math" panose="02040503050406030204" pitchFamily="18" charset="0"/>
                      </a:rPr>
                      <m:t> </m:t>
                    </m:r>
                  </m:oMath>
                </a14:m>
                <a:r>
                  <a:rPr lang="en-US" sz="1700" b="1" i="1"/>
                  <a:t>- Probability of losing the maximum amount of Risk Amount</a:t>
                </a:r>
              </a:p>
              <a:p>
                <a:pPr marL="0" indent="0">
                  <a:buNone/>
                </a:pPr>
                <a:r>
                  <a:rPr lang="en-US" sz="1700" b="1" i="1"/>
                  <a:t>Risk Size – Amount of Risk/Premium paid for the contracts</a:t>
                </a:r>
              </a:p>
              <a:p>
                <a:pPr marL="0" indent="0">
                  <a:buNone/>
                </a:pPr>
                <a:r>
                  <a:rPr lang="en-US" sz="1700" b="1" i="1"/>
                  <a:t>Stop Loss (%) – Sets a limit of loss for the risk amount if the user is trading with a stop loss</a:t>
                </a:r>
              </a:p>
              <a:p>
                <a:pPr marL="0" indent="0">
                  <a:buNone/>
                </a:pPr>
                <a:endParaRPr lang="en-US" sz="1700" b="1" i="1"/>
              </a:p>
              <a:p>
                <a:pPr marL="0" indent="0">
                  <a:buNone/>
                </a:pPr>
                <a:r>
                  <a:rPr lang="en-US" sz="1700" b="1" i="1"/>
                  <a:t>Goal: MyQuant successfully proves mathematical support guiding a user to make a trade only when all variables are in favor of a positive direction</a:t>
                </a:r>
              </a:p>
            </p:txBody>
          </p:sp>
        </mc:Choice>
        <mc:Fallback xmlns="">
          <p:sp>
            <p:nvSpPr>
              <p:cNvPr id="3" name="Content Placeholder 2">
                <a:extLst>
                  <a:ext uri="{FF2B5EF4-FFF2-40B4-BE49-F238E27FC236}">
                    <a16:creationId xmlns:a16="http://schemas.microsoft.com/office/drawing/2014/main" id="{DD8BCE19-7530-33C9-9C0B-C47D2CDC199A}"/>
                  </a:ext>
                </a:extLst>
              </p:cNvPr>
              <p:cNvSpPr>
                <a:spLocks noGrp="1" noRot="1" noChangeAspect="1" noMove="1" noResize="1" noEditPoints="1" noAdjustHandles="1" noChangeArrowheads="1" noChangeShapeType="1" noTextEdit="1"/>
              </p:cNvSpPr>
              <p:nvPr>
                <p:ph idx="1"/>
              </p:nvPr>
            </p:nvSpPr>
            <p:spPr>
              <a:xfrm>
                <a:off x="1155548" y="2217343"/>
                <a:ext cx="9880893" cy="3959619"/>
              </a:xfrm>
              <a:blipFill>
                <a:blip r:embed="rId2"/>
                <a:stretch>
                  <a:fillRect l="-432" b="-924"/>
                </a:stretch>
              </a:blipFill>
            </p:spPr>
            <p:txBody>
              <a:bodyPr/>
              <a:lstStyle/>
              <a:p>
                <a:r>
                  <a:rPr lang="en-US">
                    <a:noFill/>
                  </a:rPr>
                  <a:t> </a:t>
                </a:r>
              </a:p>
            </p:txBody>
          </p:sp>
        </mc:Fallback>
      </mc:AlternateContent>
    </p:spTree>
    <p:extLst>
      <p:ext uri="{BB962C8B-B14F-4D97-AF65-F5344CB8AC3E}">
        <p14:creationId xmlns:p14="http://schemas.microsoft.com/office/powerpoint/2010/main" val="197241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64E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EC761FB-6E08-7B83-7694-75B6C9FF0786}"/>
              </a:ext>
            </a:extLst>
          </p:cNvPr>
          <p:cNvPicPr>
            <a:picLocks noChangeAspect="1"/>
          </p:cNvPicPr>
          <p:nvPr/>
        </p:nvPicPr>
        <p:blipFill>
          <a:blip r:embed="rId2"/>
          <a:stretch>
            <a:fillRect/>
          </a:stretch>
        </p:blipFill>
        <p:spPr>
          <a:xfrm>
            <a:off x="643467" y="648209"/>
            <a:ext cx="10905066" cy="5561582"/>
          </a:xfrm>
          <a:prstGeom prst="rect">
            <a:avLst/>
          </a:prstGeom>
        </p:spPr>
      </p:pic>
      <p:sp>
        <p:nvSpPr>
          <p:cNvPr id="6" name="TextBox 5">
            <a:extLst>
              <a:ext uri="{FF2B5EF4-FFF2-40B4-BE49-F238E27FC236}">
                <a16:creationId xmlns:a16="http://schemas.microsoft.com/office/drawing/2014/main" id="{1603AC66-1DE2-1A8D-6E4B-C9968BACBB12}"/>
              </a:ext>
            </a:extLst>
          </p:cNvPr>
          <p:cNvSpPr txBox="1"/>
          <p:nvPr/>
        </p:nvSpPr>
        <p:spPr>
          <a:xfrm>
            <a:off x="6304026" y="6433304"/>
            <a:ext cx="5948935" cy="369332"/>
          </a:xfrm>
          <a:prstGeom prst="rect">
            <a:avLst/>
          </a:prstGeom>
          <a:noFill/>
        </p:spPr>
        <p:txBody>
          <a:bodyPr wrap="square" rtlCol="0">
            <a:spAutoFit/>
          </a:bodyPr>
          <a:lstStyle/>
          <a:p>
            <a:r>
              <a:rPr lang="en-US" dirty="0">
                <a:solidFill>
                  <a:schemeClr val="bg1"/>
                </a:solidFill>
              </a:rPr>
              <a:t>Trade 1: SPY Call, Exp. 9/18/2026, Strike: 650, Target: 700</a:t>
            </a:r>
          </a:p>
        </p:txBody>
      </p:sp>
    </p:spTree>
    <p:extLst>
      <p:ext uri="{BB962C8B-B14F-4D97-AF65-F5344CB8AC3E}">
        <p14:creationId xmlns:p14="http://schemas.microsoft.com/office/powerpoint/2010/main" val="3886759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84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6AAB552-2683-2160-B701-9EDC51403E3F}"/>
              </a:ext>
            </a:extLst>
          </p:cNvPr>
          <p:cNvPicPr>
            <a:picLocks noChangeAspect="1"/>
          </p:cNvPicPr>
          <p:nvPr/>
        </p:nvPicPr>
        <p:blipFill>
          <a:blip r:embed="rId2"/>
          <a:stretch>
            <a:fillRect/>
          </a:stretch>
        </p:blipFill>
        <p:spPr>
          <a:xfrm>
            <a:off x="713327" y="643467"/>
            <a:ext cx="10765346" cy="5571066"/>
          </a:xfrm>
          <a:prstGeom prst="rect">
            <a:avLst/>
          </a:prstGeom>
        </p:spPr>
      </p:pic>
      <p:sp>
        <p:nvSpPr>
          <p:cNvPr id="8" name="TextBox 7">
            <a:extLst>
              <a:ext uri="{FF2B5EF4-FFF2-40B4-BE49-F238E27FC236}">
                <a16:creationId xmlns:a16="http://schemas.microsoft.com/office/drawing/2014/main" id="{B5E52FBD-D66A-F786-3DA7-008158082256}"/>
              </a:ext>
            </a:extLst>
          </p:cNvPr>
          <p:cNvSpPr txBox="1"/>
          <p:nvPr/>
        </p:nvSpPr>
        <p:spPr>
          <a:xfrm>
            <a:off x="6304026" y="6433304"/>
            <a:ext cx="5948935" cy="369332"/>
          </a:xfrm>
          <a:prstGeom prst="rect">
            <a:avLst/>
          </a:prstGeom>
          <a:noFill/>
        </p:spPr>
        <p:txBody>
          <a:bodyPr wrap="square" rtlCol="0">
            <a:spAutoFit/>
          </a:bodyPr>
          <a:lstStyle/>
          <a:p>
            <a:r>
              <a:rPr lang="en-US" dirty="0">
                <a:solidFill>
                  <a:schemeClr val="bg1"/>
                </a:solidFill>
              </a:rPr>
              <a:t>Trade 2: VDE Call, Exp. 9/18/2026, Strike: 170, Target: 200</a:t>
            </a:r>
          </a:p>
        </p:txBody>
      </p:sp>
    </p:spTree>
    <p:extLst>
      <p:ext uri="{BB962C8B-B14F-4D97-AF65-F5344CB8AC3E}">
        <p14:creationId xmlns:p14="http://schemas.microsoft.com/office/powerpoint/2010/main" val="614330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967615-51A5-1561-9B14-C807D5357BFB}"/>
              </a:ext>
            </a:extLst>
          </p:cNvPr>
          <p:cNvSpPr>
            <a:spLocks noGrp="1"/>
          </p:cNvSpPr>
          <p:nvPr>
            <p:ph type="title"/>
          </p:nvPr>
        </p:nvSpPr>
        <p:spPr>
          <a:xfrm>
            <a:off x="838200" y="365125"/>
            <a:ext cx="10515600" cy="900597"/>
          </a:xfrm>
        </p:spPr>
        <p:txBody>
          <a:bodyPr/>
          <a:lstStyle/>
          <a:p>
            <a:r>
              <a:rPr lang="en-US" dirty="0"/>
              <a:t>Simulation: Trade 1 vs. Trade 2</a:t>
            </a:r>
          </a:p>
        </p:txBody>
      </p:sp>
      <p:sp>
        <p:nvSpPr>
          <p:cNvPr id="5" name="Content Placeholder 4">
            <a:extLst>
              <a:ext uri="{FF2B5EF4-FFF2-40B4-BE49-F238E27FC236}">
                <a16:creationId xmlns:a16="http://schemas.microsoft.com/office/drawing/2014/main" id="{3DA0C090-D665-9FE9-E647-B92DBB268E05}"/>
              </a:ext>
            </a:extLst>
          </p:cNvPr>
          <p:cNvSpPr>
            <a:spLocks noGrp="1"/>
          </p:cNvSpPr>
          <p:nvPr>
            <p:ph sz="half" idx="1"/>
          </p:nvPr>
        </p:nvSpPr>
        <p:spPr>
          <a:xfrm>
            <a:off x="914400" y="1392487"/>
            <a:ext cx="5181600" cy="5167129"/>
          </a:xfrm>
        </p:spPr>
        <p:txBody>
          <a:bodyPr>
            <a:normAutofit fontScale="92500" lnSpcReduction="20000"/>
          </a:bodyPr>
          <a:lstStyle/>
          <a:p>
            <a:pPr marL="0" indent="0">
              <a:buNone/>
            </a:pPr>
            <a:r>
              <a:rPr lang="en-US" b="1" dirty="0"/>
              <a:t>Trade 1: SPY Call</a:t>
            </a:r>
          </a:p>
          <a:p>
            <a:pPr marL="0" indent="0">
              <a:buNone/>
            </a:pPr>
            <a:r>
              <a:rPr lang="en-US" sz="1800" dirty="0"/>
              <a:t>SPY serves as the primary benchmark ETF for the S&amp;P 500, offering broad-market exposure to the U.S. large-cap equity sector. This trade utilizes a long call strategy structured around a high-conviction price target of </a:t>
            </a:r>
            <a:r>
              <a:rPr lang="en-US" sz="1800" b="1" dirty="0"/>
              <a:t>$700</a:t>
            </a:r>
            <a:r>
              <a:rPr lang="en-US" sz="1800" dirty="0"/>
              <a:t>.</a:t>
            </a:r>
          </a:p>
          <a:p>
            <a:pPr marL="0" indent="0">
              <a:buNone/>
            </a:pPr>
            <a:r>
              <a:rPr lang="en-US" sz="1800" dirty="0"/>
              <a:t>EV: -$703.30</a:t>
            </a:r>
          </a:p>
          <a:p>
            <a:pPr marL="0" indent="0">
              <a:buNone/>
            </a:pPr>
            <a:r>
              <a:rPr lang="en-US" sz="1800" dirty="0"/>
              <a:t>Return Ratio: -0.28</a:t>
            </a:r>
          </a:p>
          <a:p>
            <a:pPr marL="0" indent="0">
              <a:buNone/>
            </a:pPr>
            <a:r>
              <a:rPr lang="en-US" sz="1800" b="1" i="1" dirty="0"/>
              <a:t>Probabilities</a:t>
            </a:r>
          </a:p>
          <a:p>
            <a:pPr marL="0" indent="0">
              <a:buNone/>
            </a:pPr>
            <a:r>
              <a:rPr lang="en-US" sz="1800" b="1" i="1" dirty="0"/>
              <a:t>Target Price: </a:t>
            </a:r>
            <a:r>
              <a:rPr lang="en-US" sz="1800" i="1" dirty="0"/>
              <a:t>40.26%</a:t>
            </a:r>
          </a:p>
          <a:p>
            <a:pPr marL="0" indent="0">
              <a:buNone/>
            </a:pPr>
            <a:r>
              <a:rPr lang="en-US" sz="1800" b="1" i="1" dirty="0"/>
              <a:t>Strike Price: </a:t>
            </a:r>
            <a:r>
              <a:rPr lang="en-US" sz="1800" i="1" dirty="0"/>
              <a:t>51.95%</a:t>
            </a:r>
            <a:endParaRPr lang="en-US" sz="1800" b="1" i="1" dirty="0"/>
          </a:p>
          <a:p>
            <a:pPr marL="0" indent="0">
              <a:buNone/>
            </a:pPr>
            <a:r>
              <a:rPr lang="en-US" sz="1800" b="1" i="1" dirty="0"/>
              <a:t>Break Even Price: </a:t>
            </a:r>
            <a:r>
              <a:rPr lang="en-US" sz="1800" i="1" dirty="0"/>
              <a:t>36.09%</a:t>
            </a:r>
            <a:endParaRPr lang="en-US" sz="1800" b="1" i="1" dirty="0"/>
          </a:p>
          <a:p>
            <a:pPr marL="0" indent="0">
              <a:buNone/>
            </a:pPr>
            <a:r>
              <a:rPr lang="en-US" sz="1800" b="1" i="1" dirty="0"/>
              <a:t>Summary:</a:t>
            </a:r>
          </a:p>
          <a:p>
            <a:pPr marL="0" indent="0">
              <a:buNone/>
            </a:pPr>
            <a:r>
              <a:rPr lang="en-US" sz="1800" dirty="0"/>
              <a:t>While the S&amp;P 500 typically offers stable annualized returns, current macroeconomic trends and consensus suggest high risk for this specific entry. Our quantitative analysis confirms a </a:t>
            </a:r>
            <a:r>
              <a:rPr lang="en-US" sz="1800" b="1" dirty="0"/>
              <a:t>heavily negative Expected Value (EV)</a:t>
            </a:r>
            <a:r>
              <a:rPr lang="en-US" sz="1800" dirty="0"/>
              <a:t> and </a:t>
            </a:r>
            <a:r>
              <a:rPr lang="en-US" sz="1800" b="1" dirty="0"/>
              <a:t>Return Ratio</a:t>
            </a:r>
            <a:r>
              <a:rPr lang="en-US" sz="1800" dirty="0"/>
              <a:t>, signaling a high-conviction "no-trade" scenario.</a:t>
            </a:r>
          </a:p>
        </p:txBody>
      </p:sp>
      <p:sp>
        <p:nvSpPr>
          <p:cNvPr id="9" name="Content Placeholder 4">
            <a:extLst>
              <a:ext uri="{FF2B5EF4-FFF2-40B4-BE49-F238E27FC236}">
                <a16:creationId xmlns:a16="http://schemas.microsoft.com/office/drawing/2014/main" id="{CD2496BB-09FB-F3C9-EFE4-E50A5B162416}"/>
              </a:ext>
            </a:extLst>
          </p:cNvPr>
          <p:cNvSpPr txBox="1">
            <a:spLocks/>
          </p:cNvSpPr>
          <p:nvPr/>
        </p:nvSpPr>
        <p:spPr>
          <a:xfrm>
            <a:off x="6096000" y="1325746"/>
            <a:ext cx="5181600" cy="51671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Trade 2: VDE Call</a:t>
            </a:r>
          </a:p>
          <a:p>
            <a:pPr marL="0" indent="0">
              <a:buNone/>
            </a:pPr>
            <a:r>
              <a:rPr lang="en-US" sz="1700" dirty="0"/>
              <a:t>VDE is a Vanguard ETF providing targeted exposure to U.S. energy sector leaders, primarily ExxonMobil and Chevron. This trade thesis is modeled on a target price objective of </a:t>
            </a:r>
            <a:r>
              <a:rPr lang="en-US" sz="1700" b="1" dirty="0"/>
              <a:t>$200</a:t>
            </a:r>
            <a:r>
              <a:rPr lang="en-US" sz="1700" dirty="0"/>
              <a:t>.</a:t>
            </a:r>
          </a:p>
          <a:p>
            <a:pPr marL="0" indent="0">
              <a:buNone/>
            </a:pPr>
            <a:r>
              <a:rPr lang="en-US" sz="1700" dirty="0"/>
              <a:t>EV: $578.45</a:t>
            </a:r>
          </a:p>
          <a:p>
            <a:pPr marL="0" indent="0">
              <a:buFont typeface="Arial" panose="020B0604020202020204" pitchFamily="34" charset="0"/>
              <a:buNone/>
            </a:pPr>
            <a:r>
              <a:rPr lang="en-US" sz="1700" dirty="0"/>
              <a:t>Return Ratio: 1.25</a:t>
            </a:r>
          </a:p>
          <a:p>
            <a:pPr marL="0" indent="0">
              <a:buFont typeface="Arial" panose="020B0604020202020204" pitchFamily="34" charset="0"/>
              <a:buNone/>
            </a:pPr>
            <a:r>
              <a:rPr lang="en-US" sz="1700" b="1" i="1" dirty="0"/>
              <a:t>Probabilities</a:t>
            </a:r>
          </a:p>
          <a:p>
            <a:pPr marL="0" indent="0">
              <a:buFont typeface="Arial" panose="020B0604020202020204" pitchFamily="34" charset="0"/>
              <a:buNone/>
            </a:pPr>
            <a:r>
              <a:rPr lang="en-US" sz="1700" b="1" i="1" dirty="0"/>
              <a:t>Target Price: </a:t>
            </a:r>
            <a:r>
              <a:rPr lang="en-US" sz="1700" i="1" dirty="0"/>
              <a:t>20.33%</a:t>
            </a:r>
          </a:p>
          <a:p>
            <a:pPr marL="0" indent="0">
              <a:buFont typeface="Arial" panose="020B0604020202020204" pitchFamily="34" charset="0"/>
              <a:buNone/>
            </a:pPr>
            <a:r>
              <a:rPr lang="en-US" sz="1700" b="1" i="1" dirty="0"/>
              <a:t>Strike Price: </a:t>
            </a:r>
            <a:r>
              <a:rPr lang="en-US" sz="1700" i="1" dirty="0"/>
              <a:t>49.23%</a:t>
            </a:r>
            <a:endParaRPr lang="en-US" sz="1700" b="1" i="1" dirty="0"/>
          </a:p>
          <a:p>
            <a:pPr marL="0" indent="0">
              <a:buFont typeface="Arial" panose="020B0604020202020204" pitchFamily="34" charset="0"/>
              <a:buNone/>
            </a:pPr>
            <a:r>
              <a:rPr lang="en-US" sz="1700" b="1" i="1" dirty="0"/>
              <a:t>Break Even Price: </a:t>
            </a:r>
            <a:r>
              <a:rPr lang="en-US" sz="1700" i="1" dirty="0"/>
              <a:t>34.64%</a:t>
            </a:r>
            <a:endParaRPr lang="en-US" sz="1700" b="1" i="1" dirty="0"/>
          </a:p>
          <a:p>
            <a:pPr marL="0" indent="0">
              <a:buFont typeface="Arial" panose="020B0604020202020204" pitchFamily="34" charset="0"/>
              <a:buNone/>
            </a:pPr>
            <a:r>
              <a:rPr lang="en-US" sz="1700" b="1" i="1" dirty="0"/>
              <a:t>Summary:</a:t>
            </a:r>
          </a:p>
          <a:p>
            <a:pPr marL="0" indent="0">
              <a:buNone/>
            </a:pPr>
            <a:r>
              <a:rPr lang="en-US" sz="1700" dirty="0"/>
              <a:t>Elevated VDE volume reflects geopolitical tension in the Strait of Hormuz. While EV modeling remains favorable, a low target price probability necessitates rigorous risk management to hedge against non-attainment.</a:t>
            </a:r>
          </a:p>
        </p:txBody>
      </p:sp>
    </p:spTree>
    <p:extLst>
      <p:ext uri="{BB962C8B-B14F-4D97-AF65-F5344CB8AC3E}">
        <p14:creationId xmlns:p14="http://schemas.microsoft.com/office/powerpoint/2010/main" val="2756878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6A5ABA3-1408-1E1B-0A04-12A6969A96E8}"/>
              </a:ext>
            </a:extLst>
          </p:cNvPr>
          <p:cNvSpPr>
            <a:spLocks noGrp="1"/>
          </p:cNvSpPr>
          <p:nvPr>
            <p:ph type="title"/>
          </p:nvPr>
        </p:nvSpPr>
        <p:spPr/>
        <p:txBody>
          <a:bodyPr/>
          <a:lstStyle/>
          <a:p>
            <a:r>
              <a:rPr lang="en-US" dirty="0"/>
              <a:t>Monte-Carlo Simulations</a:t>
            </a:r>
          </a:p>
        </p:txBody>
      </p:sp>
      <p:pic>
        <p:nvPicPr>
          <p:cNvPr id="12" name="Content Placeholder 11">
            <a:extLst>
              <a:ext uri="{FF2B5EF4-FFF2-40B4-BE49-F238E27FC236}">
                <a16:creationId xmlns:a16="http://schemas.microsoft.com/office/drawing/2014/main" id="{241ACC72-1756-B6C3-6C79-F022B9B8BD03}"/>
              </a:ext>
            </a:extLst>
          </p:cNvPr>
          <p:cNvPicPr>
            <a:picLocks noGrp="1" noChangeAspect="1"/>
          </p:cNvPicPr>
          <p:nvPr>
            <p:ph sz="half" idx="2"/>
          </p:nvPr>
        </p:nvPicPr>
        <p:blipFill>
          <a:blip r:embed="rId2"/>
          <a:stretch>
            <a:fillRect/>
          </a:stretch>
        </p:blipFill>
        <p:spPr>
          <a:xfrm>
            <a:off x="836612" y="2505075"/>
            <a:ext cx="5157787" cy="2958870"/>
          </a:xfrm>
          <a:prstGeom prst="rect">
            <a:avLst/>
          </a:prstGeom>
        </p:spPr>
      </p:pic>
      <p:sp>
        <p:nvSpPr>
          <p:cNvPr id="8" name="Text Placeholder 7">
            <a:extLst>
              <a:ext uri="{FF2B5EF4-FFF2-40B4-BE49-F238E27FC236}">
                <a16:creationId xmlns:a16="http://schemas.microsoft.com/office/drawing/2014/main" id="{C4BBBD52-6BDB-4D4F-3D44-F37D8067E074}"/>
              </a:ext>
            </a:extLst>
          </p:cNvPr>
          <p:cNvSpPr>
            <a:spLocks noGrp="1"/>
          </p:cNvSpPr>
          <p:nvPr>
            <p:ph type="body" sz="quarter" idx="3"/>
          </p:nvPr>
        </p:nvSpPr>
        <p:spPr/>
        <p:txBody>
          <a:bodyPr/>
          <a:lstStyle/>
          <a:p>
            <a:r>
              <a:rPr lang="en-US" dirty="0"/>
              <a:t>Trade 2: VDE Call, Exp. 9/18/2026, Strike: 170, Target: 200</a:t>
            </a:r>
          </a:p>
        </p:txBody>
      </p:sp>
      <p:pic>
        <p:nvPicPr>
          <p:cNvPr id="14" name="Content Placeholder 13">
            <a:extLst>
              <a:ext uri="{FF2B5EF4-FFF2-40B4-BE49-F238E27FC236}">
                <a16:creationId xmlns:a16="http://schemas.microsoft.com/office/drawing/2014/main" id="{D0214348-95AF-FA0F-E610-63B3B40ABAD9}"/>
              </a:ext>
            </a:extLst>
          </p:cNvPr>
          <p:cNvPicPr>
            <a:picLocks noGrp="1" noChangeAspect="1"/>
          </p:cNvPicPr>
          <p:nvPr>
            <p:ph sz="quarter" idx="4"/>
          </p:nvPr>
        </p:nvPicPr>
        <p:blipFill>
          <a:blip r:embed="rId3"/>
          <a:stretch>
            <a:fillRect/>
          </a:stretch>
        </p:blipFill>
        <p:spPr>
          <a:xfrm>
            <a:off x="6293210" y="2505075"/>
            <a:ext cx="5059002" cy="2958870"/>
          </a:xfrm>
          <a:prstGeom prst="rect">
            <a:avLst/>
          </a:prstGeom>
        </p:spPr>
      </p:pic>
      <p:sp>
        <p:nvSpPr>
          <p:cNvPr id="10" name="Text Placeholder 9">
            <a:extLst>
              <a:ext uri="{FF2B5EF4-FFF2-40B4-BE49-F238E27FC236}">
                <a16:creationId xmlns:a16="http://schemas.microsoft.com/office/drawing/2014/main" id="{8BAE3A06-D745-560C-EE81-46E27DCA4ADC}"/>
              </a:ext>
            </a:extLst>
          </p:cNvPr>
          <p:cNvSpPr txBox="1">
            <a:spLocks noGrp="1"/>
          </p:cNvSpPr>
          <p:nvPr>
            <p:ph type="body" idx="1"/>
          </p:nvPr>
        </p:nvSpPr>
        <p:spPr>
          <a:xfrm>
            <a:off x="839788" y="1745828"/>
            <a:ext cx="5157787" cy="759247"/>
          </a:xfrm>
          <a:prstGeom prst="rect">
            <a:avLst/>
          </a:prstGeom>
          <a:noFill/>
        </p:spPr>
        <p:txBody>
          <a:bodyPr wrap="square" rtlCol="0">
            <a:spAutoFit/>
          </a:bodyPr>
          <a:lstStyle/>
          <a:p>
            <a:r>
              <a:rPr lang="en-US" dirty="0"/>
              <a:t>Trade 1: SPY Call, Exp. 9/18/2026, Strike: 650, Target: 700</a:t>
            </a:r>
          </a:p>
        </p:txBody>
      </p:sp>
      <p:sp>
        <p:nvSpPr>
          <p:cNvPr id="15" name="TextBox 14">
            <a:extLst>
              <a:ext uri="{FF2B5EF4-FFF2-40B4-BE49-F238E27FC236}">
                <a16:creationId xmlns:a16="http://schemas.microsoft.com/office/drawing/2014/main" id="{76838FB4-A100-E11C-E121-A56357701058}"/>
              </a:ext>
            </a:extLst>
          </p:cNvPr>
          <p:cNvSpPr txBox="1"/>
          <p:nvPr/>
        </p:nvSpPr>
        <p:spPr>
          <a:xfrm>
            <a:off x="579922" y="5513929"/>
            <a:ext cx="11184556" cy="1384995"/>
          </a:xfrm>
          <a:prstGeom prst="rect">
            <a:avLst/>
          </a:prstGeom>
          <a:noFill/>
        </p:spPr>
        <p:txBody>
          <a:bodyPr wrap="square" rtlCol="0">
            <a:spAutoFit/>
          </a:bodyPr>
          <a:lstStyle/>
          <a:p>
            <a:r>
              <a:rPr lang="en-US" sz="1400" b="1" dirty="0"/>
              <a:t>“The comparative analysis between SPY and VDE confirms that while the broader market offers historical stability, the current mathematical Expected Value (EV) favors the energy sector. </a:t>
            </a:r>
            <a:r>
              <a:rPr lang="en-US" sz="1400" b="1" dirty="0" err="1"/>
              <a:t>MyQuant’s</a:t>
            </a:r>
            <a:r>
              <a:rPr lang="en-US" sz="1400" b="1" dirty="0"/>
              <a:t> Monte Carlo engine reveals that the SPY $700 call sits too far outside the high-probability "distribution meat," making it a low-conviction trade compared to the more centered VDE $200 projection. Ultimately, the data mandates a disciplined "Pass" on SPY in favor of VDE, where geopolitical catalysts and trading volume align more closely with a profitable statistical outcome. This rigorous filtering process ensures that Kern’s capital is allocated based on institutional-grade probability rather than speculative hope.”</a:t>
            </a:r>
          </a:p>
        </p:txBody>
      </p:sp>
    </p:spTree>
    <p:extLst>
      <p:ext uri="{BB962C8B-B14F-4D97-AF65-F5344CB8AC3E}">
        <p14:creationId xmlns:p14="http://schemas.microsoft.com/office/powerpoint/2010/main" val="2823883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1088</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Cambria Math</vt:lpstr>
      <vt:lpstr>Google Sans Text</vt:lpstr>
      <vt:lpstr>Times New Roman</vt:lpstr>
      <vt:lpstr>Office Theme</vt:lpstr>
      <vt:lpstr>MyQuant</vt:lpstr>
      <vt:lpstr>What is MyQuant</vt:lpstr>
      <vt:lpstr>Model Strategy</vt:lpstr>
      <vt:lpstr>Risk Mitigation &amp; Expected Value The Mathematics behind Long-Term Probability</vt:lpstr>
      <vt:lpstr>PowerPoint Presentation</vt:lpstr>
      <vt:lpstr>PowerPoint Presentation</vt:lpstr>
      <vt:lpstr>Simulation: Trade 1 vs. Trade 2</vt:lpstr>
      <vt:lpstr>Monte-Carlo Simulations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Verma, Hari</dc:creator>
  <cp:lastModifiedBy>Verma, Hari</cp:lastModifiedBy>
  <cp:revision>4</cp:revision>
  <dcterms:created xsi:type="dcterms:W3CDTF">2026-03-23T16:10:42Z</dcterms:created>
  <dcterms:modified xsi:type="dcterms:W3CDTF">2026-03-23T19:55:14Z</dcterms:modified>
</cp:coreProperties>
</file>